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7160DB8-D1FF-49AD-A2B7-54BB0EFEC591}" type="slidenum"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0323ED-7024-433E-819B-1315E2A0F8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EE3692-494A-4D57-AAC7-C528C13D3D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73054B-5CBA-49A9-8C1F-01950E131A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328E3F-5F34-4389-AE1E-43FFD77A6C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925B84-0EDA-49DA-9F65-E5ABCC279C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A8ABF9-DB11-4374-9465-21D1332235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D186F6-B276-41ED-99E4-E2E886B18B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BED4C2-646E-4D78-917E-B799070E7B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1C01A0-0132-47AF-A056-5A02685AF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79B872-560F-4D27-AF6C-C6389DDC75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408815-551A-408B-821B-00A8007AC1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990EE7-8CAE-43AD-8459-4CAE069B2A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A9F828-B0A3-45DE-BBD8-AB685C0911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60E744-9699-47CA-9409-4B86969DF5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57B589-C455-447C-85DE-B5EC741495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BFA001-EE0C-4AE9-B3C1-AA83610ADD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DF0D37-4B04-4D6D-9797-9ED4E39AEB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D96C73-B27A-4F7A-A8AC-B0F378D497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DF7820-779D-41FF-AB77-12FAB3828F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49B7B8-B195-4CE3-B3D0-865E628E7F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4F5F40-7BED-4A62-9CAA-B4AD8D92D2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89AFE3-53C7-43D9-B8DD-A9CB5726D7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412472-F1ED-45CC-809B-36A9E35788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FFABA6-4D29-45B7-85A2-4AC89E82E6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253AAF-E373-4FD3-B1F1-069DA14F09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4B927E-9A7B-4FE7-A689-F34DAE7212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F97599-EB4D-49B2-8D86-20624555D3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2E4CB7-DF1D-421D-8628-BC65515FC6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94D2C9-2DE7-44E2-B136-45976E6190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2CA86A-26DB-4111-A1CD-414BC74C55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28484D-1922-4597-85B1-0C1CB51DDF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CD917E-CCD9-4D31-B43C-55911A7416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BDD594-8B29-4455-BB90-60AD3D2BB6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DC964B-683C-43FB-99E8-94C2EF5AD8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Relationship Id="rId8" Type="http://schemas.openxmlformats.org/officeDocument/2006/relationships/image" Target="../media/image10.png"/><Relationship Id="rId9" Type="http://schemas.openxmlformats.org/officeDocument/2006/relationships/image" Target="../media/image1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5.png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3.png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3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1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1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1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1.png"/><Relationship Id="rId6" Type="http://schemas.openxmlformats.org/officeDocument/2006/relationships/image" Target="../media/image2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1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10.png"/><Relationship Id="rId5" Type="http://schemas.openxmlformats.org/officeDocument/2006/relationships/image" Target="../media/image3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1.png"/><Relationship Id="rId3" Type="http://schemas.openxmlformats.org/officeDocument/2006/relationships/image" Target="../media/image28.png"/><Relationship Id="rId4" Type="http://schemas.openxmlformats.org/officeDocument/2006/relationships/image" Target="../media/image3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731520" y="13716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pc="300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MÓDULO 1  ·  CLASE 1</a:t>
            </a:r>
            <a:endParaRPr lang="es-CO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31520" y="1828800"/>
            <a:ext cx="74977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Tu primer paso como</a:t>
            </a:r>
            <a:endParaRPr lang="es-CO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Backend Developer</a:t>
            </a:r>
            <a:endParaRPr lang="es-CO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31520" y="361188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i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Entorno profesional + primer script en JavaScript</a:t>
            </a: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731520" y="4297680"/>
            <a:ext cx="3245760" cy="566640"/>
          </a:xfrm>
          <a:prstGeom prst="roundRect">
            <a:avLst>
              <a:gd name="adj" fmla="val 50000"/>
            </a:avLst>
          </a:prstGeom>
          <a:solidFill>
            <a:srgbClr val="5b2bd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31520" y="4297680"/>
            <a:ext cx="3245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pc="99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BACKEND REAL.  IA REAL.</a:t>
            </a:r>
            <a:endParaRPr lang="es-CO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0" descr="assets/dev_illustration.png"/>
          <p:cNvPicPr/>
          <p:nvPr/>
        </p:nvPicPr>
        <p:blipFill>
          <a:blip r:embed="rId2"/>
          <a:stretch/>
        </p:blipFill>
        <p:spPr>
          <a:xfrm>
            <a:off x="8092440" y="1691640"/>
            <a:ext cx="3520080" cy="352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 5"/>
          <p:cNvSpPr/>
          <p:nvPr/>
        </p:nvSpPr>
        <p:spPr>
          <a:xfrm>
            <a:off x="731520" y="60807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pc="99" strike="noStrike">
                <a:solidFill>
                  <a:srgbClr val="8c7bc7"/>
                </a:solidFill>
                <a:effectLst/>
                <a:uFillTx/>
                <a:latin typeface="Calibri"/>
                <a:ea typeface="Calibri"/>
              </a:rPr>
              <a:t>Dev Senior Code  ·  Florida Global University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CLASE 1 · RUTA DE HOY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Lo que vamos a lograr en 2 horas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548640" y="1554480"/>
            <a:ext cx="276120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749880" y="1847160"/>
            <a:ext cx="639720" cy="639720"/>
          </a:xfrm>
          <a:prstGeom prst="ellipse">
            <a:avLst/>
          </a:prstGeom>
          <a:solidFill>
            <a:srgbClr val="5b2bd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0" descr="icons/map_white.png"/>
          <p:cNvPicPr/>
          <p:nvPr/>
        </p:nvPicPr>
        <p:blipFill>
          <a:blip r:embed="rId2"/>
          <a:stretch/>
        </p:blipFill>
        <p:spPr>
          <a:xfrm>
            <a:off x="916200" y="201348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4"/>
          <p:cNvSpPr/>
          <p:nvPr/>
        </p:nvSpPr>
        <p:spPr>
          <a:xfrm>
            <a:off x="1508760" y="1792080"/>
            <a:ext cx="1663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El programa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1508760" y="2304360"/>
            <a:ext cx="1618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A dónde vamos en 4 meses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2853000" y="2606040"/>
            <a:ext cx="319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b39dff"/>
                </a:solidFill>
                <a:effectLst/>
                <a:uFillTx/>
                <a:latin typeface="Century Schoolbook"/>
                <a:ea typeface="Century Schoolbook"/>
              </a:rPr>
              <a:t>1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3420000" y="1554480"/>
            <a:ext cx="276120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3620880" y="1847160"/>
            <a:ext cx="639720" cy="639720"/>
          </a:xfrm>
          <a:prstGeom prst="ellipse">
            <a:avLst/>
          </a:prstGeom>
          <a:solidFill>
            <a:srgbClr val="5b2bd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1" descr="icons/server_white.png"/>
          <p:cNvPicPr/>
          <p:nvPr/>
        </p:nvPicPr>
        <p:blipFill>
          <a:blip r:embed="rId3"/>
          <a:stretch/>
        </p:blipFill>
        <p:spPr>
          <a:xfrm>
            <a:off x="3787560" y="201348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9"/>
          <p:cNvSpPr/>
          <p:nvPr/>
        </p:nvSpPr>
        <p:spPr>
          <a:xfrm>
            <a:off x="4380120" y="1792080"/>
            <a:ext cx="1663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El rol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4380120" y="2304360"/>
            <a:ext cx="1618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Qué hace un JS AI Backend Developer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5724000" y="2606040"/>
            <a:ext cx="319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b39dff"/>
                </a:solidFill>
                <a:effectLst/>
                <a:uFillTx/>
                <a:latin typeface="Century Schoolbook"/>
                <a:ea typeface="Century Schoolbook"/>
              </a:rPr>
              <a:t>2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6291000" y="1554480"/>
            <a:ext cx="276120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6492240" y="1847160"/>
            <a:ext cx="639720" cy="639720"/>
          </a:xfrm>
          <a:prstGeom prst="ellipse">
            <a:avLst/>
          </a:prstGeom>
          <a:solidFill>
            <a:srgbClr val="5b2bd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2" descr="icons/code_white.png"/>
          <p:cNvPicPr/>
          <p:nvPr/>
        </p:nvPicPr>
        <p:blipFill>
          <a:blip r:embed="rId4"/>
          <a:stretch/>
        </p:blipFill>
        <p:spPr>
          <a:xfrm>
            <a:off x="6658560" y="201348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14"/>
          <p:cNvSpPr/>
          <p:nvPr/>
        </p:nvSpPr>
        <p:spPr>
          <a:xfrm>
            <a:off x="7251120" y="1792080"/>
            <a:ext cx="1663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¿Qué es programar?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7251120" y="2304360"/>
            <a:ext cx="1618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Binario, niveles e historia de JS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8595360" y="2606040"/>
            <a:ext cx="319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b39dff"/>
                </a:solidFill>
                <a:effectLst/>
                <a:uFillTx/>
                <a:latin typeface="Century Schoolbook"/>
                <a:ea typeface="Century Schoolbook"/>
              </a:rPr>
              <a:t>3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9162360" y="1554480"/>
            <a:ext cx="276120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8"/>
          <p:cNvSpPr/>
          <p:nvPr/>
        </p:nvSpPr>
        <p:spPr>
          <a:xfrm>
            <a:off x="9363600" y="1847160"/>
            <a:ext cx="639720" cy="639720"/>
          </a:xfrm>
          <a:prstGeom prst="ellipse">
            <a:avLst/>
          </a:prstGeom>
          <a:solidFill>
            <a:srgbClr val="5b2bd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3" descr="icons/cog_white.png"/>
          <p:cNvPicPr/>
          <p:nvPr/>
        </p:nvPicPr>
        <p:blipFill>
          <a:blip r:embed="rId5"/>
          <a:stretch/>
        </p:blipFill>
        <p:spPr>
          <a:xfrm>
            <a:off x="9529920" y="201348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19"/>
          <p:cNvSpPr/>
          <p:nvPr/>
        </p:nvSpPr>
        <p:spPr>
          <a:xfrm>
            <a:off x="10122480" y="1792080"/>
            <a:ext cx="1663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Setup profesional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0"/>
          <p:cNvSpPr/>
          <p:nvPr/>
        </p:nvSpPr>
        <p:spPr>
          <a:xfrm>
            <a:off x="10122480" y="2304360"/>
            <a:ext cx="1618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Node, VS Code, Git, GitHub, TS y Cursor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1"/>
          <p:cNvSpPr/>
          <p:nvPr/>
        </p:nvSpPr>
        <p:spPr>
          <a:xfrm>
            <a:off x="11466720" y="2606040"/>
            <a:ext cx="319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b39dff"/>
                </a:solidFill>
                <a:effectLst/>
                <a:uFillTx/>
                <a:latin typeface="Century Schoolbook"/>
                <a:ea typeface="Century Schoolbook"/>
              </a:rPr>
              <a:t>4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2"/>
          <p:cNvSpPr/>
          <p:nvPr/>
        </p:nvSpPr>
        <p:spPr>
          <a:xfrm>
            <a:off x="1984320" y="3273480"/>
            <a:ext cx="276120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3"/>
          <p:cNvSpPr/>
          <p:nvPr/>
        </p:nvSpPr>
        <p:spPr>
          <a:xfrm>
            <a:off x="2185560" y="3566160"/>
            <a:ext cx="639720" cy="639720"/>
          </a:xfrm>
          <a:prstGeom prst="ellipse">
            <a:avLst/>
          </a:prstGeom>
          <a:solidFill>
            <a:srgbClr val="5b2bd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4" descr="icons/play_white.png"/>
          <p:cNvPicPr/>
          <p:nvPr/>
        </p:nvPicPr>
        <p:blipFill>
          <a:blip r:embed="rId6"/>
          <a:stretch/>
        </p:blipFill>
        <p:spPr>
          <a:xfrm>
            <a:off x="2351880" y="373248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24"/>
          <p:cNvSpPr/>
          <p:nvPr/>
        </p:nvSpPr>
        <p:spPr>
          <a:xfrm>
            <a:off x="2944440" y="3511440"/>
            <a:ext cx="1663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Primer script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5"/>
          <p:cNvSpPr/>
          <p:nvPr/>
        </p:nvSpPr>
        <p:spPr>
          <a:xfrm>
            <a:off x="2944440" y="4023360"/>
            <a:ext cx="1618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Escribimos y ejecutamos código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6"/>
          <p:cNvSpPr/>
          <p:nvPr/>
        </p:nvSpPr>
        <p:spPr>
          <a:xfrm>
            <a:off x="4288680" y="4325040"/>
            <a:ext cx="319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b39dff"/>
                </a:solidFill>
                <a:effectLst/>
                <a:uFillTx/>
                <a:latin typeface="Century Schoolbook"/>
                <a:ea typeface="Century Schoolbook"/>
              </a:rPr>
              <a:t>5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7"/>
          <p:cNvSpPr/>
          <p:nvPr/>
        </p:nvSpPr>
        <p:spPr>
          <a:xfrm>
            <a:off x="4855320" y="3273480"/>
            <a:ext cx="276120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8"/>
          <p:cNvSpPr/>
          <p:nvPr/>
        </p:nvSpPr>
        <p:spPr>
          <a:xfrm>
            <a:off x="5056560" y="3566160"/>
            <a:ext cx="639720" cy="639720"/>
          </a:xfrm>
          <a:prstGeom prst="ellipse">
            <a:avLst/>
          </a:prstGeom>
          <a:solidFill>
            <a:srgbClr val="5b2bd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5" descr="icons/shield_white.png"/>
          <p:cNvPicPr/>
          <p:nvPr/>
        </p:nvPicPr>
        <p:blipFill>
          <a:blip r:embed="rId7"/>
          <a:stretch/>
        </p:blipFill>
        <p:spPr>
          <a:xfrm>
            <a:off x="5222880" y="373248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29"/>
          <p:cNvSpPr/>
          <p:nvPr/>
        </p:nvSpPr>
        <p:spPr>
          <a:xfrm>
            <a:off x="5815440" y="3511440"/>
            <a:ext cx="1663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TS y Cursor en acción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0"/>
          <p:cNvSpPr/>
          <p:nvPr/>
        </p:nvSpPr>
        <p:spPr>
          <a:xfrm>
            <a:off x="5815440" y="4023360"/>
            <a:ext cx="1618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Dos archivos, dos mundos + IA con criterio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1"/>
          <p:cNvSpPr/>
          <p:nvPr/>
        </p:nvSpPr>
        <p:spPr>
          <a:xfrm>
            <a:off x="7159680" y="4325040"/>
            <a:ext cx="319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b39dff"/>
                </a:solidFill>
                <a:effectLst/>
                <a:uFillTx/>
                <a:latin typeface="Century Schoolbook"/>
                <a:ea typeface="Century Schoolbook"/>
              </a:rPr>
              <a:t>6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2"/>
          <p:cNvSpPr/>
          <p:nvPr/>
        </p:nvSpPr>
        <p:spPr>
          <a:xfrm>
            <a:off x="7726680" y="3273480"/>
            <a:ext cx="276120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3"/>
          <p:cNvSpPr/>
          <p:nvPr/>
        </p:nvSpPr>
        <p:spPr>
          <a:xfrm>
            <a:off x="7927920" y="3566160"/>
            <a:ext cx="639720" cy="639720"/>
          </a:xfrm>
          <a:prstGeom prst="ellipse">
            <a:avLst/>
          </a:prstGeom>
          <a:solidFill>
            <a:srgbClr val="5b2bd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6" descr="icons/github_white.png"/>
          <p:cNvPicPr/>
          <p:nvPr/>
        </p:nvPicPr>
        <p:blipFill>
          <a:blip r:embed="rId8"/>
          <a:stretch/>
        </p:blipFill>
        <p:spPr>
          <a:xfrm>
            <a:off x="8094240" y="373248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34"/>
          <p:cNvSpPr/>
          <p:nvPr/>
        </p:nvSpPr>
        <p:spPr>
          <a:xfrm>
            <a:off x="8686800" y="3511440"/>
            <a:ext cx="1663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Subir a GitHub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5"/>
          <p:cNvSpPr/>
          <p:nvPr/>
        </p:nvSpPr>
        <p:spPr>
          <a:xfrm>
            <a:off x="8686800" y="4023360"/>
            <a:ext cx="1618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Tu portafolio empieza hoy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6"/>
          <p:cNvSpPr/>
          <p:nvPr/>
        </p:nvSpPr>
        <p:spPr>
          <a:xfrm>
            <a:off x="10031040" y="4325040"/>
            <a:ext cx="319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b39dff"/>
                </a:solidFill>
                <a:effectLst/>
                <a:uFillTx/>
                <a:latin typeface="Century Schoolbook"/>
                <a:ea typeface="Century Schoolbook"/>
              </a:rPr>
              <a:t>7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7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8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731520" y="22402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300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BLOQUE 0 · EL PROGRAMA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731520" y="265176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¿Dónde están parados?</a:t>
            </a:r>
            <a:endParaRPr lang="es-CO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"/>
          <p:cNvSpPr/>
          <p:nvPr/>
        </p:nvSpPr>
        <p:spPr>
          <a:xfrm>
            <a:off x="731520" y="3703320"/>
            <a:ext cx="8960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i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El viaje completo: 4 meses para pasar de tu primera línea de código a construir backend real con IA integrada.</a:t>
            </a:r>
            <a:endParaRPr lang="es-CO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8869680" y="1280160"/>
            <a:ext cx="310860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0" b="1" u="none" strike="noStrike">
                <a:solidFill>
                  <a:srgbClr val="7c4dff">
                    <a:alpha val="22000"/>
                  </a:srgbClr>
                </a:solidFill>
                <a:effectLst/>
                <a:uFillTx/>
                <a:latin typeface="Century Schoolbook"/>
                <a:ea typeface="Century Schoolbook"/>
              </a:rPr>
              <a:t>0</a:t>
            </a:r>
            <a:endParaRPr lang="es-CO" sz="2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EL PROGRAMA · LA ESCALERA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Cuatro módulos, una escalera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548640" y="13532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Cada módulo se para sobre el anterior. Hoy estamos en el primer escalón.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548640" y="1920240"/>
            <a:ext cx="2697120" cy="4114440"/>
          </a:xfrm>
          <a:prstGeom prst="roundRect">
            <a:avLst>
              <a:gd name="adj" fmla="val 4068"/>
            </a:avLst>
          </a:prstGeom>
          <a:solidFill>
            <a:srgbClr val="2d1b69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1440360" y="2267640"/>
            <a:ext cx="914040" cy="91404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0" descr="icons/layer_white.png"/>
          <p:cNvPicPr/>
          <p:nvPr/>
        </p:nvPicPr>
        <p:blipFill>
          <a:blip r:embed="rId2"/>
          <a:stretch/>
        </p:blipFill>
        <p:spPr>
          <a:xfrm>
            <a:off x="1677960" y="250560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5"/>
          <p:cNvSpPr/>
          <p:nvPr/>
        </p:nvSpPr>
        <p:spPr>
          <a:xfrm>
            <a:off x="685800" y="329184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pc="99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MÓDULO 1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685800" y="359352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Fundamentos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777240" y="418788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9ceff"/>
                </a:solidFill>
                <a:effectLst/>
                <a:uFillTx/>
                <a:latin typeface="Calibri"/>
                <a:ea typeface="Calibri"/>
              </a:rPr>
              <a:t>Bases de JavaScript + entorno profesional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8"/>
          <p:cNvSpPr/>
          <p:nvPr/>
        </p:nvSpPr>
        <p:spPr>
          <a:xfrm>
            <a:off x="1005840" y="5120640"/>
            <a:ext cx="1783080" cy="360"/>
          </a:xfrm>
          <a:prstGeom prst="line">
            <a:avLst/>
          </a:prstGeom>
          <a:ln w="19050">
            <a:solidFill>
              <a:srgbClr val="7c4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777240" y="5230440"/>
            <a:ext cx="2239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"Aprendo el idioma y preparo mi taller"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0"/>
          <p:cNvSpPr/>
          <p:nvPr/>
        </p:nvSpPr>
        <p:spPr>
          <a:xfrm>
            <a:off x="3502080" y="1920240"/>
            <a:ext cx="2697120" cy="41144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1"/>
          <p:cNvSpPr/>
          <p:nvPr/>
        </p:nvSpPr>
        <p:spPr>
          <a:xfrm>
            <a:off x="4393800" y="2267640"/>
            <a:ext cx="914040" cy="914040"/>
          </a:xfrm>
          <a:prstGeom prst="ellipse">
            <a:avLst/>
          </a:prstGeom>
          <a:solidFill>
            <a:srgbClr val="5b2bd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 1" descr="icons/server_white.png"/>
          <p:cNvPicPr/>
          <p:nvPr/>
        </p:nvPicPr>
        <p:blipFill>
          <a:blip r:embed="rId3"/>
          <a:stretch/>
        </p:blipFill>
        <p:spPr>
          <a:xfrm>
            <a:off x="4631400" y="250560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12"/>
          <p:cNvSpPr/>
          <p:nvPr/>
        </p:nvSpPr>
        <p:spPr>
          <a:xfrm>
            <a:off x="3639240" y="329184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pc="99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MÓDULO 2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3639240" y="359352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Backend NestJS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3730680" y="418788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APIs reales con base de datos (CRUD)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5"/>
          <p:cNvSpPr/>
          <p:nvPr/>
        </p:nvSpPr>
        <p:spPr>
          <a:xfrm>
            <a:off x="3959280" y="5120640"/>
            <a:ext cx="1783080" cy="360"/>
          </a:xfrm>
          <a:prstGeom prst="line">
            <a:avLst/>
          </a:prstGeom>
          <a:ln w="19050">
            <a:solidFill>
              <a:srgbClr val="ede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3730680" y="5230440"/>
            <a:ext cx="2239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"Construyo el cerebro que guarda datos"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7"/>
          <p:cNvSpPr/>
          <p:nvPr/>
        </p:nvSpPr>
        <p:spPr>
          <a:xfrm>
            <a:off x="6455520" y="1920240"/>
            <a:ext cx="2697120" cy="41144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8"/>
          <p:cNvSpPr/>
          <p:nvPr/>
        </p:nvSpPr>
        <p:spPr>
          <a:xfrm>
            <a:off x="7347240" y="2267640"/>
            <a:ext cx="914040" cy="914040"/>
          </a:xfrm>
          <a:prstGeom prst="ellipse">
            <a:avLst/>
          </a:prstGeom>
          <a:solidFill>
            <a:srgbClr val="5b2bd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2" descr="icons/shield_white.png"/>
          <p:cNvPicPr/>
          <p:nvPr/>
        </p:nvPicPr>
        <p:blipFill>
          <a:blip r:embed="rId4"/>
          <a:stretch/>
        </p:blipFill>
        <p:spPr>
          <a:xfrm>
            <a:off x="7584840" y="250560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19"/>
          <p:cNvSpPr/>
          <p:nvPr/>
        </p:nvSpPr>
        <p:spPr>
          <a:xfrm>
            <a:off x="6592680" y="329184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pc="99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MÓDULO 3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0"/>
          <p:cNvSpPr/>
          <p:nvPr/>
        </p:nvSpPr>
        <p:spPr>
          <a:xfrm>
            <a:off x="6592680" y="359352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Profesional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1"/>
          <p:cNvSpPr/>
          <p:nvPr/>
        </p:nvSpPr>
        <p:spPr>
          <a:xfrm>
            <a:off x="6684120" y="418788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Arquitectura limpia + APIs escalables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2"/>
          <p:cNvSpPr/>
          <p:nvPr/>
        </p:nvSpPr>
        <p:spPr>
          <a:xfrm>
            <a:off x="6912720" y="5120640"/>
            <a:ext cx="1783080" cy="360"/>
          </a:xfrm>
          <a:prstGeom prst="line">
            <a:avLst/>
          </a:prstGeom>
          <a:ln w="19050">
            <a:solidFill>
              <a:srgbClr val="ede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3"/>
          <p:cNvSpPr/>
          <p:nvPr/>
        </p:nvSpPr>
        <p:spPr>
          <a:xfrm>
            <a:off x="6684120" y="5230440"/>
            <a:ext cx="2239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"Lo hago bien hecho, como la industria"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4"/>
          <p:cNvSpPr/>
          <p:nvPr/>
        </p:nvSpPr>
        <p:spPr>
          <a:xfrm>
            <a:off x="9409320" y="1920240"/>
            <a:ext cx="2697120" cy="41144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5"/>
          <p:cNvSpPr/>
          <p:nvPr/>
        </p:nvSpPr>
        <p:spPr>
          <a:xfrm>
            <a:off x="10300680" y="2267640"/>
            <a:ext cx="914040" cy="914040"/>
          </a:xfrm>
          <a:prstGeom prst="ellipse">
            <a:avLst/>
          </a:prstGeom>
          <a:solidFill>
            <a:srgbClr val="5b2bd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3" descr="icons/robot_white.png"/>
          <p:cNvPicPr/>
          <p:nvPr/>
        </p:nvPicPr>
        <p:blipFill>
          <a:blip r:embed="rId5"/>
          <a:stretch/>
        </p:blipFill>
        <p:spPr>
          <a:xfrm>
            <a:off x="10538640" y="250560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26"/>
          <p:cNvSpPr/>
          <p:nvPr/>
        </p:nvSpPr>
        <p:spPr>
          <a:xfrm>
            <a:off x="9546480" y="329184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pc="99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MÓDULO 4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7"/>
          <p:cNvSpPr/>
          <p:nvPr/>
        </p:nvSpPr>
        <p:spPr>
          <a:xfrm>
            <a:off x="9546480" y="359352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Seguridad + IA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8"/>
          <p:cNvSpPr/>
          <p:nvPr/>
        </p:nvSpPr>
        <p:spPr>
          <a:xfrm>
            <a:off x="9637920" y="418788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Login, roles, IA integrada, en la nube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9"/>
          <p:cNvSpPr/>
          <p:nvPr/>
        </p:nvSpPr>
        <p:spPr>
          <a:xfrm>
            <a:off x="9866160" y="5120640"/>
            <a:ext cx="1783080" cy="360"/>
          </a:xfrm>
          <a:prstGeom prst="line">
            <a:avLst/>
          </a:prstGeom>
          <a:ln w="19050">
            <a:solidFill>
              <a:srgbClr val="ede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0"/>
          <p:cNvSpPr/>
          <p:nvPr/>
        </p:nvSpPr>
        <p:spPr>
          <a:xfrm>
            <a:off x="9637920" y="5230440"/>
            <a:ext cx="2239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"Lo protejo, le meto IA y lo publico"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1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2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EL PROGRAMA · EL ARSENAL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Las herramientas que vas a dominar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548640" y="1508760"/>
            <a:ext cx="2742840" cy="2121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"/>
          <p:cNvSpPr/>
          <p:nvPr/>
        </p:nvSpPr>
        <p:spPr>
          <a:xfrm>
            <a:off x="1508760" y="1783080"/>
            <a:ext cx="822600" cy="82260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" name="Image 0" descr="icons/server_white.png"/>
          <p:cNvPicPr/>
          <p:nvPr/>
        </p:nvPicPr>
        <p:blipFill>
          <a:blip r:embed="rId2"/>
          <a:stretch/>
        </p:blipFill>
        <p:spPr>
          <a:xfrm>
            <a:off x="1722600" y="199692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 4"/>
          <p:cNvSpPr/>
          <p:nvPr/>
        </p:nvSpPr>
        <p:spPr>
          <a:xfrm>
            <a:off x="685800" y="272484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Node.js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685800" y="310896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Correr JS fuera del navegador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3493080" y="1508760"/>
            <a:ext cx="2742840" cy="2121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9"/>
          <p:cNvSpPr/>
          <p:nvPr/>
        </p:nvSpPr>
        <p:spPr>
          <a:xfrm>
            <a:off x="4453200" y="1783080"/>
            <a:ext cx="822600" cy="82260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 1" descr="icons/code_white.png"/>
          <p:cNvPicPr/>
          <p:nvPr/>
        </p:nvPicPr>
        <p:blipFill>
          <a:blip r:embed="rId3"/>
          <a:stretch/>
        </p:blipFill>
        <p:spPr>
          <a:xfrm>
            <a:off x="4667040" y="199692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10"/>
          <p:cNvSpPr/>
          <p:nvPr/>
        </p:nvSpPr>
        <p:spPr>
          <a:xfrm>
            <a:off x="3630240" y="272484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JavaScript + TS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3630240" y="310896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El lenguaje y su versión segura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6437520" y="1508760"/>
            <a:ext cx="2742840" cy="2121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5"/>
          <p:cNvSpPr/>
          <p:nvPr/>
        </p:nvSpPr>
        <p:spPr>
          <a:xfrm>
            <a:off x="7397640" y="1783080"/>
            <a:ext cx="822600" cy="82260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 2" descr="icons/laptop_white.png"/>
          <p:cNvPicPr/>
          <p:nvPr/>
        </p:nvPicPr>
        <p:blipFill>
          <a:blip r:embed="rId4"/>
          <a:stretch/>
        </p:blipFill>
        <p:spPr>
          <a:xfrm>
            <a:off x="7611480" y="199692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 16"/>
          <p:cNvSpPr/>
          <p:nvPr/>
        </p:nvSpPr>
        <p:spPr>
          <a:xfrm>
            <a:off x="6574680" y="272484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NestJS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7"/>
          <p:cNvSpPr/>
          <p:nvPr/>
        </p:nvSpPr>
        <p:spPr>
          <a:xfrm>
            <a:off x="6574680" y="310896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Marco profesional de backend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0"/>
          <p:cNvSpPr/>
          <p:nvPr/>
        </p:nvSpPr>
        <p:spPr>
          <a:xfrm>
            <a:off x="9381600" y="1508760"/>
            <a:ext cx="2742840" cy="2121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1"/>
          <p:cNvSpPr/>
          <p:nvPr/>
        </p:nvSpPr>
        <p:spPr>
          <a:xfrm>
            <a:off x="10341720" y="1783080"/>
            <a:ext cx="822600" cy="82260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3" descr="icons/database_white.png"/>
          <p:cNvPicPr/>
          <p:nvPr/>
        </p:nvPicPr>
        <p:blipFill>
          <a:blip r:embed="rId5"/>
          <a:stretch/>
        </p:blipFill>
        <p:spPr>
          <a:xfrm>
            <a:off x="10555920" y="199692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22"/>
          <p:cNvSpPr/>
          <p:nvPr/>
        </p:nvSpPr>
        <p:spPr>
          <a:xfrm>
            <a:off x="9518760" y="272484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PostgreSQL + Prisma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3"/>
          <p:cNvSpPr/>
          <p:nvPr/>
        </p:nvSpPr>
        <p:spPr>
          <a:xfrm>
            <a:off x="9518760" y="310896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Guardar datos de verdad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6"/>
          <p:cNvSpPr/>
          <p:nvPr/>
        </p:nvSpPr>
        <p:spPr>
          <a:xfrm>
            <a:off x="548640" y="3867840"/>
            <a:ext cx="2742840" cy="2121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7"/>
          <p:cNvSpPr/>
          <p:nvPr/>
        </p:nvSpPr>
        <p:spPr>
          <a:xfrm>
            <a:off x="1508760" y="4142160"/>
            <a:ext cx="822600" cy="82260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 4" descr="icons/robot_white.png"/>
          <p:cNvPicPr/>
          <p:nvPr/>
        </p:nvPicPr>
        <p:blipFill>
          <a:blip r:embed="rId6"/>
          <a:stretch/>
        </p:blipFill>
        <p:spPr>
          <a:xfrm>
            <a:off x="1722600" y="435636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 28"/>
          <p:cNvSpPr/>
          <p:nvPr/>
        </p:nvSpPr>
        <p:spPr>
          <a:xfrm>
            <a:off x="685800" y="50839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Cursor AI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9"/>
          <p:cNvSpPr/>
          <p:nvPr/>
        </p:nvSpPr>
        <p:spPr>
          <a:xfrm>
            <a:off x="685800" y="54680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Tu copiloto con IA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2"/>
          <p:cNvSpPr/>
          <p:nvPr/>
        </p:nvSpPr>
        <p:spPr>
          <a:xfrm>
            <a:off x="3493080" y="3867840"/>
            <a:ext cx="2742840" cy="2121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3"/>
          <p:cNvSpPr/>
          <p:nvPr/>
        </p:nvSpPr>
        <p:spPr>
          <a:xfrm>
            <a:off x="4453200" y="4142160"/>
            <a:ext cx="822600" cy="82260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5" descr="icons/brain_white.png"/>
          <p:cNvPicPr/>
          <p:nvPr/>
        </p:nvPicPr>
        <p:blipFill>
          <a:blip r:embed="rId7"/>
          <a:stretch/>
        </p:blipFill>
        <p:spPr>
          <a:xfrm>
            <a:off x="4667040" y="435636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34"/>
          <p:cNvSpPr/>
          <p:nvPr/>
        </p:nvSpPr>
        <p:spPr>
          <a:xfrm>
            <a:off x="3630240" y="50839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OpenAI + Claude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5"/>
          <p:cNvSpPr/>
          <p:nvPr/>
        </p:nvSpPr>
        <p:spPr>
          <a:xfrm>
            <a:off x="3630240" y="54680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Meterle IA a tus apps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38"/>
          <p:cNvSpPr/>
          <p:nvPr/>
        </p:nvSpPr>
        <p:spPr>
          <a:xfrm>
            <a:off x="6437520" y="3867840"/>
            <a:ext cx="2742840" cy="2121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39"/>
          <p:cNvSpPr/>
          <p:nvPr/>
        </p:nvSpPr>
        <p:spPr>
          <a:xfrm>
            <a:off x="7397640" y="4142160"/>
            <a:ext cx="822600" cy="82260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6" descr="icons/github_white.png"/>
          <p:cNvPicPr/>
          <p:nvPr/>
        </p:nvPicPr>
        <p:blipFill>
          <a:blip r:embed="rId8"/>
          <a:stretch/>
        </p:blipFill>
        <p:spPr>
          <a:xfrm>
            <a:off x="7611480" y="435636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40"/>
          <p:cNvSpPr/>
          <p:nvPr/>
        </p:nvSpPr>
        <p:spPr>
          <a:xfrm>
            <a:off x="6574680" y="50839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Git + GitHub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41"/>
          <p:cNvSpPr/>
          <p:nvPr/>
        </p:nvSpPr>
        <p:spPr>
          <a:xfrm>
            <a:off x="6574680" y="54680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Versionar y publicar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44"/>
          <p:cNvSpPr/>
          <p:nvPr/>
        </p:nvSpPr>
        <p:spPr>
          <a:xfrm>
            <a:off x="9381600" y="3867840"/>
            <a:ext cx="2742840" cy="2121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45"/>
          <p:cNvSpPr/>
          <p:nvPr/>
        </p:nvSpPr>
        <p:spPr>
          <a:xfrm>
            <a:off x="10341720" y="4142160"/>
            <a:ext cx="822600" cy="82260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7" descr="icons/cloud_white.png"/>
          <p:cNvPicPr/>
          <p:nvPr/>
        </p:nvPicPr>
        <p:blipFill>
          <a:blip r:embed="rId9"/>
          <a:stretch/>
        </p:blipFill>
        <p:spPr>
          <a:xfrm>
            <a:off x="10555920" y="435636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46"/>
          <p:cNvSpPr/>
          <p:nvPr/>
        </p:nvSpPr>
        <p:spPr>
          <a:xfrm>
            <a:off x="9518760" y="50839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Docker + JWT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7"/>
          <p:cNvSpPr/>
          <p:nvPr/>
        </p:nvSpPr>
        <p:spPr>
          <a:xfrm>
            <a:off x="9518760" y="54680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Seguridad y despliegue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50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51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EL PROGRAMA · CÓMO TRABAJAMOS</a:t>
            </a:r>
            <a:endParaRPr lang="es-CO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Las reglas de la casa</a:t>
            </a:r>
            <a:endParaRPr lang="es-CO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"/>
          <p:cNvSpPr/>
          <p:nvPr/>
        </p:nvSpPr>
        <p:spPr>
          <a:xfrm>
            <a:off x="548640" y="1783080"/>
            <a:ext cx="5440320" cy="1782720"/>
          </a:xfrm>
          <a:prstGeom prst="roundRect">
            <a:avLst>
              <a:gd name="adj" fmla="val 5128"/>
            </a:avLst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841320" y="2286000"/>
            <a:ext cx="776880" cy="77688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0" descr="icons/bulb_white.png"/>
          <p:cNvPicPr/>
          <p:nvPr/>
        </p:nvPicPr>
        <p:blipFill>
          <a:blip r:embed="rId2"/>
          <a:stretch/>
        </p:blipFill>
        <p:spPr>
          <a:xfrm>
            <a:off x="1043280" y="2487960"/>
            <a:ext cx="372600" cy="37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4"/>
          <p:cNvSpPr/>
          <p:nvPr/>
        </p:nvSpPr>
        <p:spPr>
          <a:xfrm>
            <a:off x="1828800" y="2075760"/>
            <a:ext cx="3977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Aquí no se memoriza, se entiende</a:t>
            </a:r>
            <a:endParaRPr lang="es-CO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1828800" y="2697480"/>
            <a:ext cx="3977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Nada de definiciones para repetir. Preguntamos, rompemos código y construimos.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6"/>
          <p:cNvSpPr/>
          <p:nvPr/>
        </p:nvSpPr>
        <p:spPr>
          <a:xfrm>
            <a:off x="6263640" y="1783080"/>
            <a:ext cx="5440320" cy="1782720"/>
          </a:xfrm>
          <a:prstGeom prst="roundRect">
            <a:avLst>
              <a:gd name="adj" fmla="val 5128"/>
            </a:avLst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7"/>
          <p:cNvSpPr/>
          <p:nvPr/>
        </p:nvSpPr>
        <p:spPr>
          <a:xfrm>
            <a:off x="6556320" y="2286000"/>
            <a:ext cx="776880" cy="77688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1" descr="icons/bug_white.png"/>
          <p:cNvPicPr/>
          <p:nvPr/>
        </p:nvPicPr>
        <p:blipFill>
          <a:blip r:embed="rId3"/>
          <a:stretch/>
        </p:blipFill>
        <p:spPr>
          <a:xfrm>
            <a:off x="6758280" y="2487960"/>
            <a:ext cx="372600" cy="37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8"/>
          <p:cNvSpPr/>
          <p:nvPr/>
        </p:nvSpPr>
        <p:spPr>
          <a:xfrm>
            <a:off x="7543800" y="2075760"/>
            <a:ext cx="3977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 error es información, no fracaso</a:t>
            </a:r>
            <a:endParaRPr lang="es-CO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9"/>
          <p:cNvSpPr/>
          <p:nvPr/>
        </p:nvSpPr>
        <p:spPr>
          <a:xfrm>
            <a:off x="7543800" y="2697480"/>
            <a:ext cx="3977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Nos equivocamos en vivo, juntos, y leemos los errores como pistas.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0"/>
          <p:cNvSpPr/>
          <p:nvPr/>
        </p:nvSpPr>
        <p:spPr>
          <a:xfrm>
            <a:off x="548640" y="3840480"/>
            <a:ext cx="5440320" cy="1782720"/>
          </a:xfrm>
          <a:prstGeom prst="roundRect">
            <a:avLst>
              <a:gd name="adj" fmla="val 5128"/>
            </a:avLst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1"/>
          <p:cNvSpPr/>
          <p:nvPr/>
        </p:nvSpPr>
        <p:spPr>
          <a:xfrm>
            <a:off x="841320" y="4343400"/>
            <a:ext cx="776880" cy="77688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2" descr="icons/question_white.png"/>
          <p:cNvPicPr/>
          <p:nvPr/>
        </p:nvPicPr>
        <p:blipFill>
          <a:blip r:embed="rId4"/>
          <a:stretch/>
        </p:blipFill>
        <p:spPr>
          <a:xfrm>
            <a:off x="1043280" y="4545360"/>
            <a:ext cx="372600" cy="37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12"/>
          <p:cNvSpPr/>
          <p:nvPr/>
        </p:nvSpPr>
        <p:spPr>
          <a:xfrm>
            <a:off x="1828800" y="4133160"/>
            <a:ext cx="3977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 duda es oro</a:t>
            </a:r>
            <a:endParaRPr lang="es-CO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1828800" y="4754880"/>
            <a:ext cx="3977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Si algo no cuadra, esa duda es donde nace el aprendizaje. Tráela siempre.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4"/>
          <p:cNvSpPr/>
          <p:nvPr/>
        </p:nvSpPr>
        <p:spPr>
          <a:xfrm>
            <a:off x="6263640" y="3840480"/>
            <a:ext cx="5440320" cy="1782720"/>
          </a:xfrm>
          <a:prstGeom prst="roundRect">
            <a:avLst>
              <a:gd name="adj" fmla="val 5128"/>
            </a:avLst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5"/>
          <p:cNvSpPr/>
          <p:nvPr/>
        </p:nvSpPr>
        <p:spPr>
          <a:xfrm>
            <a:off x="6556320" y="4343400"/>
            <a:ext cx="776880" cy="77688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3" descr="icons/robot_white.png"/>
          <p:cNvPicPr/>
          <p:nvPr/>
        </p:nvPicPr>
        <p:blipFill>
          <a:blip r:embed="rId5"/>
          <a:stretch/>
        </p:blipFill>
        <p:spPr>
          <a:xfrm>
            <a:off x="6758280" y="4545360"/>
            <a:ext cx="372600" cy="37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16"/>
          <p:cNvSpPr/>
          <p:nvPr/>
        </p:nvSpPr>
        <p:spPr>
          <a:xfrm>
            <a:off x="7543800" y="4133160"/>
            <a:ext cx="3977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 IA es copiloto, no piloto</a:t>
            </a:r>
            <a:endParaRPr lang="es-CO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7"/>
          <p:cNvSpPr/>
          <p:nvPr/>
        </p:nvSpPr>
        <p:spPr>
          <a:xfrm>
            <a:off x="7543800" y="4754880"/>
            <a:ext cx="3977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Cursor acelera a quien ya entiende. Nunca reemplaza el entender.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8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8c7bc7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9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c7bc7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Image 0" descr="icons/question_lilac.png"/>
          <p:cNvPicPr/>
          <p:nvPr/>
        </p:nvPicPr>
        <p:blipFill>
          <a:blip r:embed="rId2"/>
          <a:stretch/>
        </p:blipFill>
        <p:spPr>
          <a:xfrm>
            <a:off x="731520" y="1828800"/>
            <a:ext cx="822600" cy="82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 1"/>
          <p:cNvSpPr/>
          <p:nvPr/>
        </p:nvSpPr>
        <p:spPr>
          <a:xfrm>
            <a:off x="731520" y="2743200"/>
            <a:ext cx="84121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Cuando tocas un botón en tu banco, Rappi o WhatsApp… ¿a dónde va esa información y quién la recibe del otro lado?</a:t>
            </a:r>
            <a:endParaRPr lang="es-CO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731520" y="4800600"/>
            <a:ext cx="9600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BLOQUE 2 · EL MERCADO Y EL ROL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El frontend muestra. El backend decide.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"/>
          <p:cNvSpPr/>
          <p:nvPr/>
        </p:nvSpPr>
        <p:spPr>
          <a:xfrm>
            <a:off x="548640" y="1959840"/>
            <a:ext cx="5486040" cy="416016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4"/>
          <p:cNvSpPr/>
          <p:nvPr/>
        </p:nvSpPr>
        <p:spPr>
          <a:xfrm>
            <a:off x="868680" y="2423160"/>
            <a:ext cx="548280" cy="54828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" name="Image 0" descr="icons/database_white.png"/>
          <p:cNvPicPr/>
          <p:nvPr/>
        </p:nvPicPr>
        <p:blipFill>
          <a:blip r:embed="rId2"/>
          <a:stretch/>
        </p:blipFill>
        <p:spPr>
          <a:xfrm>
            <a:off x="1011240" y="2565720"/>
            <a:ext cx="263160" cy="26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 5"/>
          <p:cNvSpPr/>
          <p:nvPr/>
        </p:nvSpPr>
        <p:spPr>
          <a:xfrm>
            <a:off x="1600200" y="2377440"/>
            <a:ext cx="4251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Vive la lógica del negocio: pagos, usuarios, datos, seguridad.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6"/>
          <p:cNvSpPr/>
          <p:nvPr/>
        </p:nvSpPr>
        <p:spPr>
          <a:xfrm>
            <a:off x="868680" y="3264480"/>
            <a:ext cx="548280" cy="54828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1" descr="icons/server_white.png"/>
          <p:cNvPicPr/>
          <p:nvPr/>
        </p:nvPicPr>
        <p:blipFill>
          <a:blip r:embed="rId3"/>
          <a:stretch/>
        </p:blipFill>
        <p:spPr>
          <a:xfrm>
            <a:off x="1011240" y="3407040"/>
            <a:ext cx="263160" cy="26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7"/>
          <p:cNvSpPr/>
          <p:nvPr/>
        </p:nvSpPr>
        <p:spPr>
          <a:xfrm>
            <a:off x="1600200" y="3218760"/>
            <a:ext cx="4251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No se ve, pero sostiene todo. Si cae, cae la app entera.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8"/>
          <p:cNvSpPr/>
          <p:nvPr/>
        </p:nvSpPr>
        <p:spPr>
          <a:xfrm>
            <a:off x="868680" y="4105800"/>
            <a:ext cx="548280" cy="54828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5" name="Image 2" descr="icons/brain_white.png"/>
          <p:cNvPicPr/>
          <p:nvPr/>
        </p:nvPicPr>
        <p:blipFill>
          <a:blip r:embed="rId4"/>
          <a:stretch/>
        </p:blipFill>
        <p:spPr>
          <a:xfrm>
            <a:off x="1011240" y="4248360"/>
            <a:ext cx="263160" cy="26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 9"/>
          <p:cNvSpPr/>
          <p:nvPr/>
        </p:nvSpPr>
        <p:spPr>
          <a:xfrm>
            <a:off x="1600200" y="4060080"/>
            <a:ext cx="4251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Integrar IA en productos reales: un perfil escaso y cotizado.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0"/>
          <p:cNvSpPr/>
          <p:nvPr/>
        </p:nvSpPr>
        <p:spPr>
          <a:xfrm>
            <a:off x="868680" y="4946760"/>
            <a:ext cx="548280" cy="54828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8" name="Image 3" descr="icons/globe_white.png"/>
          <p:cNvPicPr/>
          <p:nvPr/>
        </p:nvPicPr>
        <p:blipFill>
          <a:blip r:embed="rId5"/>
          <a:stretch/>
        </p:blipFill>
        <p:spPr>
          <a:xfrm>
            <a:off x="1011240" y="5089680"/>
            <a:ext cx="263160" cy="26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 11"/>
          <p:cNvSpPr/>
          <p:nvPr/>
        </p:nvSpPr>
        <p:spPr>
          <a:xfrm>
            <a:off x="1600200" y="4901040"/>
            <a:ext cx="4251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El trabajo remoto te deja competir y cobrar a nivel global.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2"/>
          <p:cNvSpPr/>
          <p:nvPr/>
        </p:nvSpPr>
        <p:spPr>
          <a:xfrm>
            <a:off x="6263640" y="1600200"/>
            <a:ext cx="5348880" cy="4160160"/>
          </a:xfrm>
          <a:prstGeom prst="roundRect">
            <a:avLst>
              <a:gd name="adj" fmla="val 2198"/>
            </a:avLst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3"/>
          <p:cNvSpPr/>
          <p:nvPr/>
        </p:nvSpPr>
        <p:spPr>
          <a:xfrm>
            <a:off x="6583680" y="1920240"/>
            <a:ext cx="914040" cy="91404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4" descr="icons/server_white.png"/>
          <p:cNvPicPr/>
          <p:nvPr/>
        </p:nvPicPr>
        <p:blipFill>
          <a:blip r:embed="rId6"/>
          <a:stretch/>
        </p:blipFill>
        <p:spPr>
          <a:xfrm>
            <a:off x="6821280" y="215784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 14"/>
          <p:cNvSpPr/>
          <p:nvPr/>
        </p:nvSpPr>
        <p:spPr>
          <a:xfrm>
            <a:off x="7680960" y="2011680"/>
            <a:ext cx="3748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 JS AI Backend Developer</a:t>
            </a:r>
            <a:endParaRPr lang="es-CO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5"/>
          <p:cNvSpPr/>
          <p:nvPr/>
        </p:nvSpPr>
        <p:spPr>
          <a:xfrm>
            <a:off x="6583680" y="3063240"/>
            <a:ext cx="47545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Construye el "otro lado" de las apps con JavaScript y TypeScript, y además sabe meterle inteligencia: APIs que no solo guardan datos, sino que razonan, automatizan y responden con IA.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6"/>
          <p:cNvSpPr/>
          <p:nvPr/>
        </p:nvSpPr>
        <p:spPr>
          <a:xfrm>
            <a:off x="6583680" y="4937760"/>
            <a:ext cx="4754520" cy="639720"/>
          </a:xfrm>
          <a:prstGeom prst="roundRect">
            <a:avLst>
              <a:gd name="adj" fmla="val 14286"/>
            </a:avLst>
          </a:prstGeom>
          <a:solidFill>
            <a:srgbClr val="5b2b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7"/>
          <p:cNvSpPr/>
          <p:nvPr/>
        </p:nvSpPr>
        <p:spPr>
          <a:xfrm>
            <a:off x="6583680" y="493776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Aprendemos a que el backend decida — y a que decida bien.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8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9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731520" y="22402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300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BLOQUE 3 · FUNDAMENTOS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731520" y="265176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¿Qué es programar de verdad?</a:t>
            </a:r>
            <a:endParaRPr lang="es-CO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"/>
          <p:cNvSpPr/>
          <p:nvPr/>
        </p:nvSpPr>
        <p:spPr>
          <a:xfrm>
            <a:off x="731520" y="3703320"/>
            <a:ext cx="8960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i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La máquina solo entiende 1 y 0. Por eso inventamos los lenguajes. Esta es la historia que amarra toda la clase.</a:t>
            </a:r>
            <a:endParaRPr lang="es-CO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8869680" y="1280160"/>
            <a:ext cx="310860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0" b="1" u="none" strike="noStrike">
                <a:solidFill>
                  <a:srgbClr val="7c4dff">
                    <a:alpha val="22000"/>
                  </a:srgbClr>
                </a:solidFill>
                <a:effectLst/>
                <a:uFillTx/>
                <a:latin typeface="Century Schoolbook"/>
                <a:ea typeface="Century Schoolbook"/>
              </a:rPr>
              <a:t>3</a:t>
            </a:r>
            <a:endParaRPr lang="es-CO" sz="2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¿QUÉ ES PROGRAMAR? · EL IDIOMA DE LA MÁQUINA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La máquina solo piensa en 1 y 0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"/>
          <p:cNvSpPr/>
          <p:nvPr/>
        </p:nvSpPr>
        <p:spPr>
          <a:xfrm>
            <a:off x="548640" y="1554480"/>
            <a:ext cx="11063880" cy="868320"/>
          </a:xfrm>
          <a:prstGeom prst="roundRect">
            <a:avLst>
              <a:gd name="adj" fmla="val 8421"/>
            </a:avLst>
          </a:prstGeom>
          <a:solidFill>
            <a:srgbClr val="161033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914400" y="1554480"/>
            <a:ext cx="10332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01001000 01101111 01101100 01100001</a:t>
            </a:r>
            <a:r>
              <a:rPr lang="en-US" sz="1500" b="0" i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   ←  esto dice "Hola"</a:t>
            </a:r>
            <a:endParaRPr lang="es-CO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4"/>
          <p:cNvSpPr/>
          <p:nvPr/>
        </p:nvSpPr>
        <p:spPr>
          <a:xfrm>
            <a:off x="548640" y="2697480"/>
            <a:ext cx="5440320" cy="306288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5"/>
          <p:cNvSpPr/>
          <p:nvPr/>
        </p:nvSpPr>
        <p:spPr>
          <a:xfrm>
            <a:off x="822960" y="292608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99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BAJO NIVEL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6"/>
          <p:cNvSpPr/>
          <p:nvPr/>
        </p:nvSpPr>
        <p:spPr>
          <a:xfrm>
            <a:off x="822960" y="324612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Cerca de la máquina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868680" y="3703320"/>
            <a:ext cx="48459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03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Ejemplos: Assembly, C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03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Críptico, difícil de leer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03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Control máximo del hardware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03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Lento de escribir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8"/>
          <p:cNvSpPr/>
          <p:nvPr/>
        </p:nvSpPr>
        <p:spPr>
          <a:xfrm>
            <a:off x="6172200" y="2697480"/>
            <a:ext cx="5440320" cy="3062880"/>
          </a:xfrm>
          <a:prstGeom prst="roundRect">
            <a:avLst>
              <a:gd name="adj" fmla="val 2985"/>
            </a:avLst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9"/>
          <p:cNvSpPr/>
          <p:nvPr/>
        </p:nvSpPr>
        <p:spPr>
          <a:xfrm>
            <a:off x="6446520" y="292608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99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ALTO NIVEL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0"/>
          <p:cNvSpPr/>
          <p:nvPr/>
        </p:nvSpPr>
        <p:spPr>
          <a:xfrm>
            <a:off x="6446520" y="324612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Cerca del humano  ·  aquí vive JavaScript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1"/>
          <p:cNvSpPr/>
          <p:nvPr/>
        </p:nvSpPr>
        <p:spPr>
          <a:xfrm>
            <a:off x="6492240" y="3703320"/>
            <a:ext cx="48459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Ejemplos: JavaScript, Python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Legible, cercano al inglés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 abstrae de los detalles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Rápido de escribir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2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3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¿QUÉ ES PROGRAMAR? · LA ANALOGÍA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Mismo plato, distinto esfuerzo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548640" y="1691640"/>
            <a:ext cx="5440320" cy="2742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"/>
          <p:cNvSpPr/>
          <p:nvPr/>
        </p:nvSpPr>
        <p:spPr>
          <a:xfrm>
            <a:off x="822960" y="192024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🔥</a:t>
            </a:r>
            <a:endParaRPr lang="es-CO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822960" y="26974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Bajo nivel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822960" y="3200400"/>
            <a:ext cx="4937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Cocinar moliendo tú mismo el trigo y prendiendo el fuego con leña. Control absoluto, pero lentísimo.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6"/>
          <p:cNvSpPr/>
          <p:nvPr/>
        </p:nvSpPr>
        <p:spPr>
          <a:xfrm>
            <a:off x="6172200" y="1691640"/>
            <a:ext cx="5440320" cy="2742840"/>
          </a:xfrm>
          <a:prstGeom prst="roundRect">
            <a:avLst>
              <a:gd name="adj" fmla="val 4000"/>
            </a:avLst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7"/>
          <p:cNvSpPr/>
          <p:nvPr/>
        </p:nvSpPr>
        <p:spPr>
          <a:xfrm>
            <a:off x="6446520" y="192024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⚡</a:t>
            </a:r>
            <a:endParaRPr lang="es-CO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8"/>
          <p:cNvSpPr/>
          <p:nvPr/>
        </p:nvSpPr>
        <p:spPr>
          <a:xfrm>
            <a:off x="6446520" y="26974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Alto nivel  ·  JavaScript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9"/>
          <p:cNvSpPr/>
          <p:nvPr/>
        </p:nvSpPr>
        <p:spPr>
          <a:xfrm>
            <a:off x="6446520" y="3200400"/>
            <a:ext cx="4937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Cocinar con horno eléctrico y harina ya lista. Logras lo mismo, pero piensas en la receta, no en los cables.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0"/>
          <p:cNvSpPr/>
          <p:nvPr/>
        </p:nvSpPr>
        <p:spPr>
          <a:xfrm>
            <a:off x="548640" y="4709160"/>
            <a:ext cx="11063880" cy="1051200"/>
          </a:xfrm>
          <a:prstGeom prst="roundRect">
            <a:avLst>
              <a:gd name="adj" fmla="val 8696"/>
            </a:avLst>
          </a:prstGeom>
          <a:solidFill>
            <a:srgbClr val="5b2bd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1"/>
          <p:cNvSpPr/>
          <p:nvPr/>
        </p:nvSpPr>
        <p:spPr>
          <a:xfrm>
            <a:off x="868680" y="4892040"/>
            <a:ext cx="685440" cy="685440"/>
          </a:xfrm>
          <a:prstGeom prst="ellipse">
            <a:avLst/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9" name="Image 0" descr="icons/cog_white.png"/>
          <p:cNvPicPr/>
          <p:nvPr/>
        </p:nvPicPr>
        <p:blipFill>
          <a:blip r:embed="rId2"/>
          <a:stretch/>
        </p:blipFill>
        <p:spPr>
          <a:xfrm>
            <a:off x="1046880" y="507024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Text 12"/>
          <p:cNvSpPr/>
          <p:nvPr/>
        </p:nvSpPr>
        <p:spPr>
          <a:xfrm>
            <a:off x="1783080" y="4892040"/>
            <a:ext cx="9600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¿Quién traduce a binario?  </a:t>
            </a:r>
            <a:r>
              <a:rPr lang="en-US" sz="1400" b="0" u="none" strike="noStrike">
                <a:solidFill>
                  <a:srgbClr val="e8e3ff"/>
                </a:solidFill>
                <a:effectLst/>
                <a:uFillTx/>
                <a:latin typeface="Calibri"/>
              </a:rPr>
              <a:t>Un motor. En JavaScript se llama </a:t>
            </a:r>
            <a:r>
              <a:rPr lang="en-US" sz="1500" b="1" u="none" strike="noStrike">
                <a:solidFill>
                  <a:srgbClr val="ffc24b"/>
                </a:solidFill>
                <a:effectLst/>
                <a:uFillTx/>
                <a:latin typeface="Calibri"/>
              </a:rPr>
              <a:t>V8</a:t>
            </a:r>
            <a:r>
              <a:rPr lang="en-US" sz="1400" b="0" u="none" strike="noStrike">
                <a:solidFill>
                  <a:srgbClr val="e8e3ff"/>
                </a:solidFill>
                <a:effectLst/>
                <a:uFillTx/>
                <a:latin typeface="Calibri"/>
              </a:rPr>
              <a:t> — recuérdalo, reaparece en un minuto con Node.js.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3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4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¿QUÉ ES PROGRAMAR? · LA HISTORIA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De dónde sale JavaScript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"/>
          <p:cNvSpPr/>
          <p:nvPr/>
        </p:nvSpPr>
        <p:spPr>
          <a:xfrm>
            <a:off x="548640" y="1783080"/>
            <a:ext cx="2697120" cy="3702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3"/>
          <p:cNvSpPr/>
          <p:nvPr/>
        </p:nvSpPr>
        <p:spPr>
          <a:xfrm>
            <a:off x="1486080" y="2103120"/>
            <a:ext cx="822600" cy="822600"/>
          </a:xfrm>
          <a:prstGeom prst="ellipse">
            <a:avLst/>
          </a:prstGeom>
          <a:solidFill>
            <a:srgbClr val="5b2bd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4"/>
          <p:cNvSpPr/>
          <p:nvPr/>
        </p:nvSpPr>
        <p:spPr>
          <a:xfrm>
            <a:off x="148608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1</a:t>
            </a:r>
            <a:endParaRPr lang="es-CO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5"/>
          <p:cNvSpPr/>
          <p:nvPr/>
        </p:nvSpPr>
        <p:spPr>
          <a:xfrm>
            <a:off x="640080" y="310896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1" u="none" strike="noStrike">
                <a:solidFill>
                  <a:srgbClr val="5b2bd9"/>
                </a:solidFill>
                <a:effectLst/>
                <a:uFillTx/>
                <a:latin typeface="Century Schoolbook"/>
                <a:ea typeface="Century Schoolbook"/>
              </a:rPr>
              <a:t>1995</a:t>
            </a:r>
            <a:endParaRPr lang="es-CO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6"/>
          <p:cNvSpPr/>
          <p:nvPr/>
        </p:nvSpPr>
        <p:spPr>
          <a:xfrm>
            <a:off x="777240" y="3657600"/>
            <a:ext cx="22399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Brendan Eich crea JavaScript en Netscape en apenas 10 días. La web necesitaba páginas interactivas.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7"/>
          <p:cNvSpPr/>
          <p:nvPr/>
        </p:nvSpPr>
        <p:spPr>
          <a:xfrm>
            <a:off x="3493080" y="1783080"/>
            <a:ext cx="2697120" cy="3702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8"/>
          <p:cNvSpPr/>
          <p:nvPr/>
        </p:nvSpPr>
        <p:spPr>
          <a:xfrm>
            <a:off x="4430160" y="2103120"/>
            <a:ext cx="822600" cy="822600"/>
          </a:xfrm>
          <a:prstGeom prst="ellipse">
            <a:avLst/>
          </a:prstGeom>
          <a:solidFill>
            <a:srgbClr val="5b2bd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9"/>
          <p:cNvSpPr/>
          <p:nvPr/>
        </p:nvSpPr>
        <p:spPr>
          <a:xfrm>
            <a:off x="443016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2</a:t>
            </a:r>
            <a:endParaRPr lang="es-CO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0"/>
          <p:cNvSpPr/>
          <p:nvPr/>
        </p:nvSpPr>
        <p:spPr>
          <a:xfrm>
            <a:off x="3584520" y="310896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1" u="none" strike="noStrike">
                <a:solidFill>
                  <a:srgbClr val="5b2bd9"/>
                </a:solidFill>
                <a:effectLst/>
                <a:uFillTx/>
                <a:latin typeface="Century Schoolbook"/>
                <a:ea typeface="Century Schoolbook"/>
              </a:rPr>
              <a:t>El nombre</a:t>
            </a:r>
            <a:endParaRPr lang="es-CO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1"/>
          <p:cNvSpPr/>
          <p:nvPr/>
        </p:nvSpPr>
        <p:spPr>
          <a:xfrm>
            <a:off x="3721680" y="3657600"/>
            <a:ext cx="22399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"JavaScript" fue marketing: Java era popular. Pero son tan distintos como carro y carpa.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2"/>
          <p:cNvSpPr/>
          <p:nvPr/>
        </p:nvSpPr>
        <p:spPr>
          <a:xfrm>
            <a:off x="6437520" y="1783080"/>
            <a:ext cx="2697120" cy="3702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3"/>
          <p:cNvSpPr/>
          <p:nvPr/>
        </p:nvSpPr>
        <p:spPr>
          <a:xfrm>
            <a:off x="7374600" y="2103120"/>
            <a:ext cx="822600" cy="822600"/>
          </a:xfrm>
          <a:prstGeom prst="ellipse">
            <a:avLst/>
          </a:prstGeom>
          <a:solidFill>
            <a:srgbClr val="5b2bd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4"/>
          <p:cNvSpPr/>
          <p:nvPr/>
        </p:nvSpPr>
        <p:spPr>
          <a:xfrm>
            <a:off x="73746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3</a:t>
            </a:r>
            <a:endParaRPr lang="es-CO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5"/>
          <p:cNvSpPr/>
          <p:nvPr/>
        </p:nvSpPr>
        <p:spPr>
          <a:xfrm>
            <a:off x="6528960" y="310896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1" u="none" strike="noStrike">
                <a:solidFill>
                  <a:srgbClr val="5b2bd9"/>
                </a:solidFill>
                <a:effectLst/>
                <a:uFillTx/>
                <a:latin typeface="Century Schoolbook"/>
                <a:ea typeface="Century Schoolbook"/>
              </a:rPr>
              <a:t>Años</a:t>
            </a:r>
            <a:endParaRPr lang="es-CO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6"/>
          <p:cNvSpPr/>
          <p:nvPr/>
        </p:nvSpPr>
        <p:spPr>
          <a:xfrm>
            <a:off x="6666120" y="3657600"/>
            <a:ext cx="22399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JavaScript solo vivía dentro del navegador. Era "el lenguaje de las páginas web".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7"/>
          <p:cNvSpPr/>
          <p:nvPr/>
        </p:nvSpPr>
        <p:spPr>
          <a:xfrm>
            <a:off x="9381600" y="1783080"/>
            <a:ext cx="2697120" cy="3702960"/>
          </a:xfrm>
          <a:prstGeom prst="roundRect">
            <a:avLst>
              <a:gd name="adj" fmla="val 4068"/>
            </a:avLst>
          </a:prstGeom>
          <a:solidFill>
            <a:srgbClr val="2d1b69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8"/>
          <p:cNvSpPr/>
          <p:nvPr/>
        </p:nvSpPr>
        <p:spPr>
          <a:xfrm>
            <a:off x="10319040" y="2103120"/>
            <a:ext cx="822600" cy="822600"/>
          </a:xfrm>
          <a:prstGeom prst="ellipse">
            <a:avLst/>
          </a:prstGeom>
          <a:solidFill>
            <a:srgbClr val="ffc24b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9"/>
          <p:cNvSpPr/>
          <p:nvPr/>
        </p:nvSpPr>
        <p:spPr>
          <a:xfrm>
            <a:off x="1031904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4</a:t>
            </a:r>
            <a:endParaRPr lang="es-CO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0"/>
          <p:cNvSpPr/>
          <p:nvPr/>
        </p:nvSpPr>
        <p:spPr>
          <a:xfrm>
            <a:off x="9473040" y="310896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2009</a:t>
            </a:r>
            <a:endParaRPr lang="es-CO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1"/>
          <p:cNvSpPr/>
          <p:nvPr/>
        </p:nvSpPr>
        <p:spPr>
          <a:xfrm>
            <a:off x="9610200" y="3657600"/>
            <a:ext cx="22399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Sacan el motor V8 fuera del navegador y nace Node.js. JavaScript ahora corre en servidores. Por eso este curso existe.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2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3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 0"/>
          <p:cNvSpPr/>
          <p:nvPr/>
        </p:nvSpPr>
        <p:spPr>
          <a:xfrm>
            <a:off x="731520" y="22402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300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BLOQUE 4 · MANOS A LA OBRA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"/>
          <p:cNvSpPr/>
          <p:nvPr/>
        </p:nvSpPr>
        <p:spPr>
          <a:xfrm>
            <a:off x="731520" y="265176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Montamos el taller profesional</a:t>
            </a:r>
            <a:endParaRPr lang="es-CO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"/>
          <p:cNvSpPr/>
          <p:nvPr/>
        </p:nvSpPr>
        <p:spPr>
          <a:xfrm>
            <a:off x="731520" y="3703320"/>
            <a:ext cx="8960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i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Una herramienta a la vez: instalar, verificar, entender — y solo entonces la siguiente. Nada de todo revuelto.</a:t>
            </a:r>
            <a:endParaRPr lang="es-CO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8869680" y="1280160"/>
            <a:ext cx="310860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0" b="1" u="none" strike="noStrike">
                <a:solidFill>
                  <a:srgbClr val="7c4dff">
                    <a:alpha val="22000"/>
                  </a:srgbClr>
                </a:solidFill>
                <a:effectLst/>
                <a:uFillTx/>
                <a:latin typeface="Century Schoolbook"/>
                <a:ea typeface="Century Schoolbook"/>
              </a:rPr>
              <a:t>4</a:t>
            </a:r>
            <a:endParaRPr lang="es-CO" sz="2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SETUP · EL ORDEN IMPORTA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"/>
          <p:cNvSpPr/>
          <p:nvPr/>
        </p:nvSpPr>
        <p:spPr>
          <a:xfrm>
            <a:off x="360000" y="173700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Seis herramientas, en este orden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"/>
          <p:cNvSpPr/>
          <p:nvPr/>
        </p:nvSpPr>
        <p:spPr>
          <a:xfrm>
            <a:off x="360000" y="23587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Instalamos primero lo que todo lo demás necesita. El motor antes que el taller. No es capricho, es lógica.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3"/>
          <p:cNvSpPr/>
          <p:nvPr/>
        </p:nvSpPr>
        <p:spPr>
          <a:xfrm>
            <a:off x="360000" y="3090240"/>
            <a:ext cx="1755360" cy="2377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4"/>
          <p:cNvSpPr/>
          <p:nvPr/>
        </p:nvSpPr>
        <p:spPr>
          <a:xfrm>
            <a:off x="1036800" y="3254760"/>
            <a:ext cx="402120" cy="402120"/>
          </a:xfrm>
          <a:prstGeom prst="ellipse">
            <a:avLst/>
          </a:prstGeom>
          <a:solidFill>
            <a:srgbClr val="ffc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5"/>
          <p:cNvSpPr/>
          <p:nvPr/>
        </p:nvSpPr>
        <p:spPr>
          <a:xfrm>
            <a:off x="1036800" y="32547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1</a:t>
            </a:r>
            <a:endParaRPr lang="es-CO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6"/>
          <p:cNvSpPr/>
          <p:nvPr/>
        </p:nvSpPr>
        <p:spPr>
          <a:xfrm>
            <a:off x="853920" y="3803400"/>
            <a:ext cx="767880" cy="76788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8" name="Image 0" descr="icons/server_white.png"/>
          <p:cNvPicPr/>
          <p:nvPr/>
        </p:nvPicPr>
        <p:blipFill>
          <a:blip r:embed="rId2"/>
          <a:stretch/>
        </p:blipFill>
        <p:spPr>
          <a:xfrm>
            <a:off x="1053360" y="4003200"/>
            <a:ext cx="368280" cy="36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 7"/>
          <p:cNvSpPr/>
          <p:nvPr/>
        </p:nvSpPr>
        <p:spPr>
          <a:xfrm>
            <a:off x="405720" y="4663080"/>
            <a:ext cx="1663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Node.js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8"/>
          <p:cNvSpPr/>
          <p:nvPr/>
        </p:nvSpPr>
        <p:spPr>
          <a:xfrm>
            <a:off x="405720" y="5010480"/>
            <a:ext cx="1663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i="1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El motor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9"/>
          <p:cNvSpPr/>
          <p:nvPr/>
        </p:nvSpPr>
        <p:spPr>
          <a:xfrm>
            <a:off x="2097360" y="3913200"/>
            <a:ext cx="20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es-CO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0"/>
          <p:cNvSpPr/>
          <p:nvPr/>
        </p:nvSpPr>
        <p:spPr>
          <a:xfrm>
            <a:off x="2280240" y="3090240"/>
            <a:ext cx="1755360" cy="2377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1"/>
          <p:cNvSpPr/>
          <p:nvPr/>
        </p:nvSpPr>
        <p:spPr>
          <a:xfrm>
            <a:off x="2957040" y="3254760"/>
            <a:ext cx="402120" cy="402120"/>
          </a:xfrm>
          <a:prstGeom prst="ellipse">
            <a:avLst/>
          </a:prstGeom>
          <a:solidFill>
            <a:srgbClr val="ffc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2"/>
          <p:cNvSpPr/>
          <p:nvPr/>
        </p:nvSpPr>
        <p:spPr>
          <a:xfrm>
            <a:off x="2957040" y="32547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2</a:t>
            </a:r>
            <a:endParaRPr lang="es-CO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3"/>
          <p:cNvSpPr/>
          <p:nvPr/>
        </p:nvSpPr>
        <p:spPr>
          <a:xfrm>
            <a:off x="2774160" y="3803400"/>
            <a:ext cx="767880" cy="76788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 1" descr="icons/laptop_white.png"/>
          <p:cNvPicPr/>
          <p:nvPr/>
        </p:nvPicPr>
        <p:blipFill>
          <a:blip r:embed="rId3"/>
          <a:stretch/>
        </p:blipFill>
        <p:spPr>
          <a:xfrm>
            <a:off x="2973600" y="4003200"/>
            <a:ext cx="368280" cy="36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Text 14"/>
          <p:cNvSpPr/>
          <p:nvPr/>
        </p:nvSpPr>
        <p:spPr>
          <a:xfrm>
            <a:off x="2325960" y="4663080"/>
            <a:ext cx="1663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VS Code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5"/>
          <p:cNvSpPr/>
          <p:nvPr/>
        </p:nvSpPr>
        <p:spPr>
          <a:xfrm>
            <a:off x="2325960" y="5010480"/>
            <a:ext cx="1663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i="1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El taller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6"/>
          <p:cNvSpPr/>
          <p:nvPr/>
        </p:nvSpPr>
        <p:spPr>
          <a:xfrm>
            <a:off x="4017600" y="3913200"/>
            <a:ext cx="20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es-CO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7"/>
          <p:cNvSpPr/>
          <p:nvPr/>
        </p:nvSpPr>
        <p:spPr>
          <a:xfrm>
            <a:off x="4200480" y="3090240"/>
            <a:ext cx="1755360" cy="2377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8"/>
          <p:cNvSpPr/>
          <p:nvPr/>
        </p:nvSpPr>
        <p:spPr>
          <a:xfrm>
            <a:off x="4877280" y="3254760"/>
            <a:ext cx="402120" cy="402120"/>
          </a:xfrm>
          <a:prstGeom prst="ellipse">
            <a:avLst/>
          </a:prstGeom>
          <a:solidFill>
            <a:srgbClr val="ffc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9"/>
          <p:cNvSpPr/>
          <p:nvPr/>
        </p:nvSpPr>
        <p:spPr>
          <a:xfrm>
            <a:off x="4877280" y="32547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3</a:t>
            </a:r>
            <a:endParaRPr lang="es-CO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0"/>
          <p:cNvSpPr/>
          <p:nvPr/>
        </p:nvSpPr>
        <p:spPr>
          <a:xfrm>
            <a:off x="4694400" y="3803400"/>
            <a:ext cx="767880" cy="76788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4" name="Image 2" descr="icons/git_white.png"/>
          <p:cNvPicPr/>
          <p:nvPr/>
        </p:nvPicPr>
        <p:blipFill>
          <a:blip r:embed="rId4"/>
          <a:stretch/>
        </p:blipFill>
        <p:spPr>
          <a:xfrm>
            <a:off x="4893840" y="4003200"/>
            <a:ext cx="368280" cy="36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Text 21"/>
          <p:cNvSpPr/>
          <p:nvPr/>
        </p:nvSpPr>
        <p:spPr>
          <a:xfrm>
            <a:off x="4246200" y="4663080"/>
            <a:ext cx="1663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Git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2"/>
          <p:cNvSpPr/>
          <p:nvPr/>
        </p:nvSpPr>
        <p:spPr>
          <a:xfrm>
            <a:off x="4246200" y="5010480"/>
            <a:ext cx="1663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i="1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El historiador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3"/>
          <p:cNvSpPr/>
          <p:nvPr/>
        </p:nvSpPr>
        <p:spPr>
          <a:xfrm>
            <a:off x="5937840" y="3913200"/>
            <a:ext cx="20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es-CO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24"/>
          <p:cNvSpPr/>
          <p:nvPr/>
        </p:nvSpPr>
        <p:spPr>
          <a:xfrm>
            <a:off x="6120720" y="3090240"/>
            <a:ext cx="1755360" cy="2377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25"/>
          <p:cNvSpPr/>
          <p:nvPr/>
        </p:nvSpPr>
        <p:spPr>
          <a:xfrm>
            <a:off x="6797520" y="3254760"/>
            <a:ext cx="402120" cy="402120"/>
          </a:xfrm>
          <a:prstGeom prst="ellipse">
            <a:avLst/>
          </a:prstGeom>
          <a:solidFill>
            <a:srgbClr val="ffc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6"/>
          <p:cNvSpPr/>
          <p:nvPr/>
        </p:nvSpPr>
        <p:spPr>
          <a:xfrm>
            <a:off x="6797520" y="32547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4</a:t>
            </a:r>
            <a:endParaRPr lang="es-CO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27"/>
          <p:cNvSpPr/>
          <p:nvPr/>
        </p:nvSpPr>
        <p:spPr>
          <a:xfrm>
            <a:off x="6614640" y="3803400"/>
            <a:ext cx="767880" cy="76788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2" name="Image 3" descr="icons/github_white.png"/>
          <p:cNvPicPr/>
          <p:nvPr/>
        </p:nvPicPr>
        <p:blipFill>
          <a:blip r:embed="rId5"/>
          <a:stretch/>
        </p:blipFill>
        <p:spPr>
          <a:xfrm>
            <a:off x="6814080" y="4003200"/>
            <a:ext cx="368280" cy="36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Text 28"/>
          <p:cNvSpPr/>
          <p:nvPr/>
        </p:nvSpPr>
        <p:spPr>
          <a:xfrm>
            <a:off x="6166440" y="4663080"/>
            <a:ext cx="1663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GitHub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9"/>
          <p:cNvSpPr/>
          <p:nvPr/>
        </p:nvSpPr>
        <p:spPr>
          <a:xfrm>
            <a:off x="6166440" y="5010480"/>
            <a:ext cx="1663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i="1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La nube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30"/>
          <p:cNvSpPr/>
          <p:nvPr/>
        </p:nvSpPr>
        <p:spPr>
          <a:xfrm>
            <a:off x="7858080" y="3913200"/>
            <a:ext cx="20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es-CO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31"/>
          <p:cNvSpPr/>
          <p:nvPr/>
        </p:nvSpPr>
        <p:spPr>
          <a:xfrm>
            <a:off x="8040960" y="3090240"/>
            <a:ext cx="1755360" cy="2377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32"/>
          <p:cNvSpPr/>
          <p:nvPr/>
        </p:nvSpPr>
        <p:spPr>
          <a:xfrm>
            <a:off x="8717760" y="3254760"/>
            <a:ext cx="402120" cy="402120"/>
          </a:xfrm>
          <a:prstGeom prst="ellipse">
            <a:avLst/>
          </a:prstGeom>
          <a:solidFill>
            <a:srgbClr val="ffc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3"/>
          <p:cNvSpPr/>
          <p:nvPr/>
        </p:nvSpPr>
        <p:spPr>
          <a:xfrm>
            <a:off x="8717760" y="32547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5</a:t>
            </a:r>
            <a:endParaRPr lang="es-CO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34"/>
          <p:cNvSpPr/>
          <p:nvPr/>
        </p:nvSpPr>
        <p:spPr>
          <a:xfrm>
            <a:off x="8534880" y="3803400"/>
            <a:ext cx="767880" cy="76788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0" name="Image 4" descr="icons/code_white.png"/>
          <p:cNvPicPr/>
          <p:nvPr/>
        </p:nvPicPr>
        <p:blipFill>
          <a:blip r:embed="rId6"/>
          <a:stretch/>
        </p:blipFill>
        <p:spPr>
          <a:xfrm>
            <a:off x="8734320" y="4003200"/>
            <a:ext cx="368280" cy="36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Text 35"/>
          <p:cNvSpPr/>
          <p:nvPr/>
        </p:nvSpPr>
        <p:spPr>
          <a:xfrm>
            <a:off x="8086680" y="4663080"/>
            <a:ext cx="1663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TypeScript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36"/>
          <p:cNvSpPr/>
          <p:nvPr/>
        </p:nvSpPr>
        <p:spPr>
          <a:xfrm>
            <a:off x="8086680" y="5010480"/>
            <a:ext cx="1663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i="1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JS con cinturón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7"/>
          <p:cNvSpPr/>
          <p:nvPr/>
        </p:nvSpPr>
        <p:spPr>
          <a:xfrm>
            <a:off x="9778320" y="3913200"/>
            <a:ext cx="20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es-CO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38"/>
          <p:cNvSpPr/>
          <p:nvPr/>
        </p:nvSpPr>
        <p:spPr>
          <a:xfrm>
            <a:off x="9961200" y="3090240"/>
            <a:ext cx="1755360" cy="2377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39"/>
          <p:cNvSpPr/>
          <p:nvPr/>
        </p:nvSpPr>
        <p:spPr>
          <a:xfrm>
            <a:off x="10638000" y="3254760"/>
            <a:ext cx="402120" cy="402120"/>
          </a:xfrm>
          <a:prstGeom prst="ellipse">
            <a:avLst/>
          </a:prstGeom>
          <a:solidFill>
            <a:srgbClr val="ffc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40"/>
          <p:cNvSpPr/>
          <p:nvPr/>
        </p:nvSpPr>
        <p:spPr>
          <a:xfrm>
            <a:off x="10638000" y="32547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6</a:t>
            </a:r>
            <a:endParaRPr lang="es-CO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41"/>
          <p:cNvSpPr/>
          <p:nvPr/>
        </p:nvSpPr>
        <p:spPr>
          <a:xfrm>
            <a:off x="10455120" y="3803400"/>
            <a:ext cx="767880" cy="76788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8" name="Image 5" descr="icons/robot_white.png"/>
          <p:cNvPicPr/>
          <p:nvPr/>
        </p:nvPicPr>
        <p:blipFill>
          <a:blip r:embed="rId7"/>
          <a:stretch/>
        </p:blipFill>
        <p:spPr>
          <a:xfrm>
            <a:off x="10654560" y="4003200"/>
            <a:ext cx="368280" cy="36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Text 42"/>
          <p:cNvSpPr/>
          <p:nvPr/>
        </p:nvSpPr>
        <p:spPr>
          <a:xfrm>
            <a:off x="10006920" y="4663080"/>
            <a:ext cx="1663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Cursor AI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43"/>
          <p:cNvSpPr/>
          <p:nvPr/>
        </p:nvSpPr>
        <p:spPr>
          <a:xfrm>
            <a:off x="10006920" y="5010480"/>
            <a:ext cx="1663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i="1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El copiloto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46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47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SETUP 1 DE 6 · NODE.JS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Node.js — el motor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2"/>
          <p:cNvSpPr/>
          <p:nvPr/>
        </p:nvSpPr>
        <p:spPr>
          <a:xfrm>
            <a:off x="548640" y="1600200"/>
            <a:ext cx="5486040" cy="1371240"/>
          </a:xfrm>
          <a:prstGeom prst="roundRect">
            <a:avLst>
              <a:gd name="adj" fmla="val 4667"/>
            </a:avLst>
          </a:prstGeom>
          <a:solidFill>
            <a:srgbClr val="161033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3"/>
          <p:cNvSpPr/>
          <p:nvPr/>
        </p:nvSpPr>
        <p:spPr>
          <a:xfrm>
            <a:off x="777240" y="1783080"/>
            <a:ext cx="118440" cy="118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4"/>
          <p:cNvSpPr/>
          <p:nvPr/>
        </p:nvSpPr>
        <p:spPr>
          <a:xfrm>
            <a:off x="1005840" y="1783080"/>
            <a:ext cx="118440" cy="118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5"/>
          <p:cNvSpPr/>
          <p:nvPr/>
        </p:nvSpPr>
        <p:spPr>
          <a:xfrm>
            <a:off x="1234440" y="1783080"/>
            <a:ext cx="118440" cy="118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6"/>
          <p:cNvSpPr/>
          <p:nvPr/>
        </p:nvSpPr>
        <p:spPr>
          <a:xfrm>
            <a:off x="822960" y="2057400"/>
            <a:ext cx="4937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# ¿Ya lo tienes?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node --version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npm  --version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7"/>
          <p:cNvSpPr/>
          <p:nvPr/>
        </p:nvSpPr>
        <p:spPr>
          <a:xfrm>
            <a:off x="6300000" y="3174480"/>
            <a:ext cx="5486040" cy="1325520"/>
          </a:xfrm>
          <a:prstGeom prst="roundRect">
            <a:avLst>
              <a:gd name="adj" fmla="val 4828"/>
            </a:avLst>
          </a:prstGeom>
          <a:solidFill>
            <a:srgbClr val="161033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8"/>
          <p:cNvSpPr/>
          <p:nvPr/>
        </p:nvSpPr>
        <p:spPr>
          <a:xfrm>
            <a:off x="6528600" y="3357360"/>
            <a:ext cx="118440" cy="118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9"/>
          <p:cNvSpPr/>
          <p:nvPr/>
        </p:nvSpPr>
        <p:spPr>
          <a:xfrm>
            <a:off x="6757200" y="3357360"/>
            <a:ext cx="118440" cy="118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0"/>
          <p:cNvSpPr/>
          <p:nvPr/>
        </p:nvSpPr>
        <p:spPr>
          <a:xfrm>
            <a:off x="6985800" y="3357360"/>
            <a:ext cx="118440" cy="118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1"/>
          <p:cNvSpPr/>
          <p:nvPr/>
        </p:nvSpPr>
        <p:spPr>
          <a:xfrm>
            <a:off x="6574320" y="3631680"/>
            <a:ext cx="4937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# Instalar:  nodejs.org → versión LTS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# (LTS = estable, la que usa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#  la industria. Estabilidad &gt; novedad)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7"/>
          <p:cNvSpPr/>
          <p:nvPr/>
        </p:nvSpPr>
        <p:spPr>
          <a:xfrm>
            <a:off x="548640" y="4709160"/>
            <a:ext cx="11063880" cy="914040"/>
          </a:xfrm>
          <a:prstGeom prst="roundRect">
            <a:avLst>
              <a:gd name="adj" fmla="val 10000"/>
            </a:avLst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6" name="Image 2" descr="icons/terminal_lilac.png"/>
          <p:cNvPicPr/>
          <p:nvPr/>
        </p:nvPicPr>
        <p:blipFill>
          <a:blip r:embed="rId2"/>
          <a:stretch/>
        </p:blipFill>
        <p:spPr>
          <a:xfrm>
            <a:off x="868680" y="49377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Text 18"/>
          <p:cNvSpPr/>
          <p:nvPr/>
        </p:nvSpPr>
        <p:spPr>
          <a:xfrm>
            <a:off x="1463040" y="4937760"/>
            <a:ext cx="9966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Hablamos con la máquina por texto.  </a:t>
            </a:r>
            <a:r>
              <a:rPr lang="en-US" sz="1300" b="0" u="none" strike="noStrike">
                <a:solidFill>
                  <a:srgbClr val="b39dff"/>
                </a:solidFill>
                <a:effectLst/>
                <a:uFillTx/>
                <a:latin typeface="Calibri"/>
              </a:rPr>
              <a:t>Escribimos una orden y nos respondió, sin clics. Esa es la idea de la terminal — la usaremos toda la vida.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9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0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SETUP 2 DE 6 · VS CODE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VS Code — el taller + la terminal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"/>
          <p:cNvSpPr/>
          <p:nvPr/>
        </p:nvSpPr>
        <p:spPr>
          <a:xfrm>
            <a:off x="548640" y="13716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Descárgalo de code.visualstudio.com. Abre la terminal integrada con  Terminal → New Terminal  (o Ctrl + ñ).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3"/>
          <p:cNvSpPr/>
          <p:nvPr/>
        </p:nvSpPr>
        <p:spPr>
          <a:xfrm>
            <a:off x="2880000" y="1928520"/>
            <a:ext cx="5486040" cy="3651480"/>
          </a:xfrm>
          <a:prstGeom prst="roundRect">
            <a:avLst>
              <a:gd name="adj" fmla="val 1944"/>
            </a:avLst>
          </a:prstGeom>
          <a:solidFill>
            <a:srgbClr val="161033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4"/>
          <p:cNvSpPr/>
          <p:nvPr/>
        </p:nvSpPr>
        <p:spPr>
          <a:xfrm>
            <a:off x="3108600" y="2131560"/>
            <a:ext cx="118440" cy="13140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5"/>
          <p:cNvSpPr/>
          <p:nvPr/>
        </p:nvSpPr>
        <p:spPr>
          <a:xfrm>
            <a:off x="3337200" y="2131560"/>
            <a:ext cx="118440" cy="13140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6"/>
          <p:cNvSpPr/>
          <p:nvPr/>
        </p:nvSpPr>
        <p:spPr>
          <a:xfrm>
            <a:off x="3565800" y="2131560"/>
            <a:ext cx="118440" cy="13140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7"/>
          <p:cNvSpPr/>
          <p:nvPr/>
        </p:nvSpPr>
        <p:spPr>
          <a:xfrm>
            <a:off x="3154320" y="2435760"/>
            <a:ext cx="4937400" cy="29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# Comandos que usaremos siempre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pwd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     ¿dónde estoy? (brújula)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ls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      ¿qué hay aquí?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cd carpeta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  entrar a una carpeta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cd ..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     subir un nivel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mkdir x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   crear una carpeta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clear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     limpiar la pantalla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5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6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SETUP 3 DE 6 · GIT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Git ≠ GitHub  (la confusión más común)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2"/>
          <p:cNvSpPr/>
          <p:nvPr/>
        </p:nvSpPr>
        <p:spPr>
          <a:xfrm>
            <a:off x="548640" y="1645920"/>
            <a:ext cx="5440320" cy="2331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3"/>
          <p:cNvSpPr/>
          <p:nvPr/>
        </p:nvSpPr>
        <p:spPr>
          <a:xfrm>
            <a:off x="822960" y="1920240"/>
            <a:ext cx="822600" cy="822600"/>
          </a:xfrm>
          <a:prstGeom prst="ellipse">
            <a:avLst/>
          </a:prstGeom>
          <a:solidFill>
            <a:srgbClr val="5b2bd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4" name="Image 0" descr="icons/git_white.png"/>
          <p:cNvPicPr/>
          <p:nvPr/>
        </p:nvPicPr>
        <p:blipFill>
          <a:blip r:embed="rId2"/>
          <a:stretch/>
        </p:blipFill>
        <p:spPr>
          <a:xfrm>
            <a:off x="1036800" y="213408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 4"/>
          <p:cNvSpPr/>
          <p:nvPr/>
        </p:nvSpPr>
        <p:spPr>
          <a:xfrm>
            <a:off x="1783080" y="196596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Git = tu diario</a:t>
            </a:r>
            <a:endParaRPr lang="es-CO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868680" y="2834640"/>
            <a:ext cx="4937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Un programa en TU computador. Lleva la historia de tu proyecto: cada cambio queda registrado, puedes volver atrás. Funciona sin internet.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6"/>
          <p:cNvSpPr/>
          <p:nvPr/>
        </p:nvSpPr>
        <p:spPr>
          <a:xfrm>
            <a:off x="6172200" y="1645920"/>
            <a:ext cx="5440320" cy="2331360"/>
          </a:xfrm>
          <a:prstGeom prst="roundRect">
            <a:avLst>
              <a:gd name="adj" fmla="val 4706"/>
            </a:avLst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7"/>
          <p:cNvSpPr/>
          <p:nvPr/>
        </p:nvSpPr>
        <p:spPr>
          <a:xfrm>
            <a:off x="6446520" y="1920240"/>
            <a:ext cx="822600" cy="82260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9" name="Image 1" descr="icons/github_white.png"/>
          <p:cNvPicPr/>
          <p:nvPr/>
        </p:nvPicPr>
        <p:blipFill>
          <a:blip r:embed="rId3"/>
          <a:stretch/>
        </p:blipFill>
        <p:spPr>
          <a:xfrm>
            <a:off x="6660360" y="213408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Text 8"/>
          <p:cNvSpPr/>
          <p:nvPr/>
        </p:nvSpPr>
        <p:spPr>
          <a:xfrm>
            <a:off x="7406640" y="196596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GitHub = publicarlo</a:t>
            </a:r>
            <a:endParaRPr lang="es-CO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9"/>
          <p:cNvSpPr/>
          <p:nvPr/>
        </p:nvSpPr>
        <p:spPr>
          <a:xfrm>
            <a:off x="6492240" y="2834640"/>
            <a:ext cx="4937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Un sitio web en la nube donde SUBES esa historia para respaldarla y compartirla. Necesita internet. Es tu portafolio público.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0"/>
          <p:cNvSpPr/>
          <p:nvPr/>
        </p:nvSpPr>
        <p:spPr>
          <a:xfrm>
            <a:off x="548640" y="4206240"/>
            <a:ext cx="11063880" cy="914040"/>
          </a:xfrm>
          <a:prstGeom prst="roundRect">
            <a:avLst>
              <a:gd name="adj" fmla="val 9000"/>
            </a:avLst>
          </a:prstGeom>
          <a:solidFill>
            <a:srgbClr val="2d1b69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3" name="Image 2" descr="icons/question_lilac.png"/>
          <p:cNvPicPr/>
          <p:nvPr/>
        </p:nvPicPr>
        <p:blipFill>
          <a:blip r:embed="rId4"/>
          <a:stretch/>
        </p:blipFill>
        <p:spPr>
          <a:xfrm>
            <a:off x="749880" y="440748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Text 11"/>
          <p:cNvSpPr/>
          <p:nvPr/>
        </p:nvSpPr>
        <p:spPr>
          <a:xfrm>
            <a:off x="1417320" y="4316040"/>
            <a:ext cx="10012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¿Puedo usar Git sin GitHub? ¿Y GitHub sin Git?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5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6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SETUP 3 DE 6 · CONFIGURAR GIT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Tu identidad en Git (una sola vez)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2"/>
          <p:cNvSpPr/>
          <p:nvPr/>
        </p:nvSpPr>
        <p:spPr>
          <a:xfrm>
            <a:off x="548640" y="1645920"/>
            <a:ext cx="5486040" cy="2194200"/>
          </a:xfrm>
          <a:prstGeom prst="roundRect">
            <a:avLst>
              <a:gd name="adj" fmla="val 2917"/>
            </a:avLst>
          </a:prstGeom>
          <a:solidFill>
            <a:srgbClr val="161033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3"/>
          <p:cNvSpPr/>
          <p:nvPr/>
        </p:nvSpPr>
        <p:spPr>
          <a:xfrm>
            <a:off x="777240" y="1828800"/>
            <a:ext cx="118440" cy="118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4"/>
          <p:cNvSpPr/>
          <p:nvPr/>
        </p:nvSpPr>
        <p:spPr>
          <a:xfrm>
            <a:off x="1005840" y="1828800"/>
            <a:ext cx="118440" cy="118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5"/>
          <p:cNvSpPr/>
          <p:nvPr/>
        </p:nvSpPr>
        <p:spPr>
          <a:xfrm>
            <a:off x="1234440" y="1828800"/>
            <a:ext cx="118440" cy="118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6"/>
          <p:cNvSpPr/>
          <p:nvPr/>
        </p:nvSpPr>
        <p:spPr>
          <a:xfrm>
            <a:off x="822960" y="2103120"/>
            <a:ext cx="49374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git --version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   # ¿ya lo tienes?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git config --global user.name "Tu Nombre"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git config --global user.email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   "tu-correo@ejemplo.com"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2"/>
          <p:cNvSpPr/>
          <p:nvPr/>
        </p:nvSpPr>
        <p:spPr>
          <a:xfrm>
            <a:off x="548640" y="4160520"/>
            <a:ext cx="11063880" cy="1096920"/>
          </a:xfrm>
          <a:prstGeom prst="roundRect">
            <a:avLst>
              <a:gd name="adj" fmla="val 8333"/>
            </a:avLst>
          </a:prstGeom>
          <a:solidFill>
            <a:srgbClr val="fff4dc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5" name="Image 2" descr="icons/key_purple.png"/>
          <p:cNvPicPr/>
          <p:nvPr/>
        </p:nvPicPr>
        <p:blipFill>
          <a:blip r:embed="rId2"/>
          <a:stretch/>
        </p:blipFill>
        <p:spPr>
          <a:xfrm>
            <a:off x="868680" y="452628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Text 13"/>
          <p:cNvSpPr/>
          <p:nvPr/>
        </p:nvSpPr>
        <p:spPr>
          <a:xfrm>
            <a:off x="1554480" y="4297680"/>
            <a:ext cx="9875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Punto crítico:  </a:t>
            </a:r>
            <a:r>
              <a:rPr lang="en-US" sz="1350" b="0" u="none" strike="noStrike">
                <a:solidFill>
                  <a:srgbClr val="1a1033"/>
                </a:solidFill>
                <a:effectLst/>
                <a:uFillTx/>
                <a:latin typeface="Calibri"/>
              </a:rPr>
              <a:t>el correo de aquí debe ser EL MISMO con el que crearás tu cuenta de GitHub. Si son distintos, GitHub no reconoce tu trabajo como tuyo.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4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5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SETUP 4 DE 6 · GITHUB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Crea tu cuenta (tu portafolio empieza aquí)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2"/>
          <p:cNvSpPr/>
          <p:nvPr/>
        </p:nvSpPr>
        <p:spPr>
          <a:xfrm>
            <a:off x="2880000" y="1874520"/>
            <a:ext cx="5486040" cy="35200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3"/>
          <p:cNvSpPr/>
          <p:nvPr/>
        </p:nvSpPr>
        <p:spPr>
          <a:xfrm>
            <a:off x="3154320" y="21031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Paso a paso</a:t>
            </a:r>
            <a:endParaRPr lang="es-CO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4"/>
          <p:cNvSpPr/>
          <p:nvPr/>
        </p:nvSpPr>
        <p:spPr>
          <a:xfrm>
            <a:off x="3245760" y="2606040"/>
            <a:ext cx="493740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a1033"/>
              </a:buClr>
              <a:buFont typeface="Calibri Light"/>
              <a:buAutoNum type="arabicPeriod"/>
            </a:pPr>
            <a:r>
              <a:rPr lang="en-US" sz="140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Entra a github.com → Sign up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a1033"/>
              </a:buClr>
              <a:buFont typeface="Calibri Light"/>
              <a:buAutoNum type="arabicPeriod"/>
            </a:pPr>
            <a:r>
              <a:rPr lang="en-US" sz="140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Usa el MISMO correo de Git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a1033"/>
              </a:buClr>
              <a:buFont typeface="Calibri Light"/>
              <a:buAutoNum type="arabicPeriod"/>
            </a:pPr>
            <a:r>
              <a:rPr lang="en-US" sz="140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Elige un usuario profesional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a1033"/>
              </a:buClr>
              <a:buFont typeface="Calibri Light"/>
              <a:buAutoNum type="arabicPeriod"/>
            </a:pPr>
            <a:r>
              <a:rPr lang="en-US" sz="140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Verifica y entra a tu perfil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2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3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SETUP 5 DE 6 · TYPESCRIPT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TypeScript: JavaScript con cinturón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2"/>
          <p:cNvSpPr/>
          <p:nvPr/>
        </p:nvSpPr>
        <p:spPr>
          <a:xfrm>
            <a:off x="548640" y="2008800"/>
            <a:ext cx="3611520" cy="10512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3"/>
          <p:cNvSpPr/>
          <p:nvPr/>
        </p:nvSpPr>
        <p:spPr>
          <a:xfrm>
            <a:off x="777240" y="21459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¿Qué es?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4"/>
          <p:cNvSpPr/>
          <p:nvPr/>
        </p:nvSpPr>
        <p:spPr>
          <a:xfrm>
            <a:off x="777240" y="251172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JavaScript + tipos. Un superset.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5"/>
          <p:cNvSpPr/>
          <p:nvPr/>
        </p:nvSpPr>
        <p:spPr>
          <a:xfrm>
            <a:off x="4279320" y="2008800"/>
            <a:ext cx="3611520" cy="10512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6"/>
          <p:cNvSpPr/>
          <p:nvPr/>
        </p:nvSpPr>
        <p:spPr>
          <a:xfrm>
            <a:off x="4507920" y="21459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¿Cuándo?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7"/>
          <p:cNvSpPr/>
          <p:nvPr/>
        </p:nvSpPr>
        <p:spPr>
          <a:xfrm>
            <a:off x="4507920" y="251172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Microsoft, 2012 (JS es de 1995).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8"/>
          <p:cNvSpPr/>
          <p:nvPr/>
        </p:nvSpPr>
        <p:spPr>
          <a:xfrm>
            <a:off x="8010000" y="2008800"/>
            <a:ext cx="3611520" cy="10512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9"/>
          <p:cNvSpPr/>
          <p:nvPr/>
        </p:nvSpPr>
        <p:spPr>
          <a:xfrm>
            <a:off x="8238600" y="21459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¿Por qué?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0"/>
          <p:cNvSpPr/>
          <p:nvPr/>
        </p:nvSpPr>
        <p:spPr>
          <a:xfrm>
            <a:off x="8238600" y="251172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Atrapar errores mientras escribes.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6"/>
          <p:cNvSpPr/>
          <p:nvPr/>
        </p:nvSpPr>
        <p:spPr>
          <a:xfrm>
            <a:off x="456120" y="3631680"/>
            <a:ext cx="11063880" cy="868320"/>
          </a:xfrm>
          <a:prstGeom prst="roundRect">
            <a:avLst>
              <a:gd name="adj" fmla="val 10526"/>
            </a:avLst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7"/>
          <p:cNvSpPr/>
          <p:nvPr/>
        </p:nvSpPr>
        <p:spPr>
          <a:xfrm>
            <a:off x="821880" y="3631680"/>
            <a:ext cx="10332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🚗  </a:t>
            </a: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JavaScript es el carro. TypeScript es el mismo carro con sensores y cámara de reversa: </a:t>
            </a:r>
            <a:r>
              <a:rPr lang="en-US" sz="1350" b="1" i="1" u="none" strike="noStrike">
                <a:solidFill>
                  <a:srgbClr val="ffc24b"/>
                </a:solidFill>
                <a:effectLst/>
                <a:uFillTx/>
                <a:latin typeface="Calibri"/>
              </a:rPr>
              <a:t>te avisa antes de que choques.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8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9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SETUP 5 Y 6 · TYPESCRIPT + CURSOR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Instalamos TS y conocemos a Cursor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2"/>
          <p:cNvSpPr/>
          <p:nvPr/>
        </p:nvSpPr>
        <p:spPr>
          <a:xfrm>
            <a:off x="548640" y="1645920"/>
            <a:ext cx="5486040" cy="1737000"/>
          </a:xfrm>
          <a:prstGeom prst="roundRect">
            <a:avLst>
              <a:gd name="adj" fmla="val 3684"/>
            </a:avLst>
          </a:prstGeom>
          <a:solidFill>
            <a:srgbClr val="161033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3"/>
          <p:cNvSpPr/>
          <p:nvPr/>
        </p:nvSpPr>
        <p:spPr>
          <a:xfrm>
            <a:off x="777240" y="1828800"/>
            <a:ext cx="118440" cy="118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4"/>
          <p:cNvSpPr/>
          <p:nvPr/>
        </p:nvSpPr>
        <p:spPr>
          <a:xfrm>
            <a:off x="1005840" y="1828800"/>
            <a:ext cx="118440" cy="118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5"/>
          <p:cNvSpPr/>
          <p:nvPr/>
        </p:nvSpPr>
        <p:spPr>
          <a:xfrm>
            <a:off x="1234440" y="1828800"/>
            <a:ext cx="118440" cy="118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6"/>
          <p:cNvSpPr/>
          <p:nvPr/>
        </p:nvSpPr>
        <p:spPr>
          <a:xfrm>
            <a:off x="822960" y="2103120"/>
            <a:ext cx="4937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tsc --version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   # ¿ya lo tienes?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npm install -g typescript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tsc --version   # verificar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7"/>
          <p:cNvSpPr/>
          <p:nvPr/>
        </p:nvSpPr>
        <p:spPr>
          <a:xfrm>
            <a:off x="548640" y="352044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i="1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Hoy lo instalamos, lo entendemos… y en el Bloque 6 lo vemos FUNCIONAR, archivos en mano.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8"/>
          <p:cNvSpPr/>
          <p:nvPr/>
        </p:nvSpPr>
        <p:spPr>
          <a:xfrm>
            <a:off x="6263640" y="1645920"/>
            <a:ext cx="5348880" cy="2468520"/>
          </a:xfrm>
          <a:prstGeom prst="roundRect">
            <a:avLst>
              <a:gd name="adj" fmla="val 4444"/>
            </a:avLst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9"/>
          <p:cNvSpPr/>
          <p:nvPr/>
        </p:nvSpPr>
        <p:spPr>
          <a:xfrm>
            <a:off x="6537960" y="1920240"/>
            <a:ext cx="868320" cy="86832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1" name="Image 0" descr="icons/robot_white.png"/>
          <p:cNvPicPr/>
          <p:nvPr/>
        </p:nvPicPr>
        <p:blipFill>
          <a:blip r:embed="rId2"/>
          <a:stretch/>
        </p:blipFill>
        <p:spPr>
          <a:xfrm>
            <a:off x="6763680" y="2145960"/>
            <a:ext cx="416520" cy="41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2" name="Text 10"/>
          <p:cNvSpPr/>
          <p:nvPr/>
        </p:nvSpPr>
        <p:spPr>
          <a:xfrm>
            <a:off x="7589520" y="2011680"/>
            <a:ext cx="3840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Cursor AI — el copiloto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1"/>
          <p:cNvSpPr/>
          <p:nvPr/>
        </p:nvSpPr>
        <p:spPr>
          <a:xfrm>
            <a:off x="6537960" y="2880360"/>
            <a:ext cx="4937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Editor con IA integrada (construido sobre VS Code). Descárgalo de cursor.com. Te ayuda a escribir, explicar y depurar código.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2"/>
          <p:cNvSpPr/>
          <p:nvPr/>
        </p:nvSpPr>
        <p:spPr>
          <a:xfrm>
            <a:off x="548640" y="4434840"/>
            <a:ext cx="11063880" cy="1279800"/>
          </a:xfrm>
          <a:prstGeom prst="roundRect">
            <a:avLst>
              <a:gd name="adj" fmla="val 7143"/>
            </a:avLst>
          </a:prstGeom>
          <a:solidFill>
            <a:srgbClr val="fff4dc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5" name="Image 1" descr="icons/hand_purple.png"/>
          <p:cNvPicPr/>
          <p:nvPr/>
        </p:nvPicPr>
        <p:blipFill>
          <a:blip r:embed="rId3"/>
          <a:stretch/>
        </p:blipFill>
        <p:spPr>
          <a:xfrm>
            <a:off x="868680" y="48006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Text 13"/>
          <p:cNvSpPr/>
          <p:nvPr/>
        </p:nvSpPr>
        <p:spPr>
          <a:xfrm>
            <a:off x="1554480" y="4572000"/>
            <a:ext cx="9875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Copiloto, no piloto.  </a:t>
            </a:r>
            <a:r>
              <a:rPr lang="en-US" sz="1350" b="0" u="none" strike="noStrike">
                <a:solidFill>
                  <a:srgbClr val="1a1033"/>
                </a:solidFill>
                <a:effectLst/>
                <a:uFillTx/>
                <a:latin typeface="Calibri"/>
              </a:rPr>
              <a:t>La IA acelera a quien YA entiende. Si no entiendes lo que escribe, no estás programando: estás copiando. Quien no entiende no puede revisar, corregir, ni saber si la IA se equivocó. Ese criterio son ustedes.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4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5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Text 0"/>
          <p:cNvSpPr/>
          <p:nvPr/>
        </p:nvSpPr>
        <p:spPr>
          <a:xfrm>
            <a:off x="731520" y="22402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300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BLOQUE 5 · LIVE CODING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"/>
          <p:cNvSpPr/>
          <p:nvPr/>
        </p:nvSpPr>
        <p:spPr>
          <a:xfrm>
            <a:off x="731520" y="265176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Nuestro primer script</a:t>
            </a:r>
            <a:endParaRPr lang="es-CO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2"/>
          <p:cNvSpPr/>
          <p:nvPr/>
        </p:nvSpPr>
        <p:spPr>
          <a:xfrm>
            <a:off x="731520" y="3703320"/>
            <a:ext cx="8960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i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El taller está listo. Ahora escribimos código de verdad: un gestor de tareas que crecerá durante todo el módulo.</a:t>
            </a:r>
            <a:endParaRPr lang="es-CO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3"/>
          <p:cNvSpPr/>
          <p:nvPr/>
        </p:nvSpPr>
        <p:spPr>
          <a:xfrm>
            <a:off x="8869680" y="1280160"/>
            <a:ext cx="310860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0" b="1" u="none" strike="noStrike">
                <a:solidFill>
                  <a:srgbClr val="7c4dff">
                    <a:alpha val="22000"/>
                  </a:srgbClr>
                </a:solidFill>
                <a:effectLst/>
                <a:uFillTx/>
                <a:latin typeface="Century Schoolbook"/>
                <a:ea typeface="Century Schoolbook"/>
              </a:rPr>
              <a:t>5</a:t>
            </a:r>
            <a:endParaRPr lang="es-CO" sz="2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LIVE CODING · APP.JS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Tu primera línea de backend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2"/>
          <p:cNvSpPr/>
          <p:nvPr/>
        </p:nvSpPr>
        <p:spPr>
          <a:xfrm>
            <a:off x="548640" y="1600200"/>
            <a:ext cx="6034680" cy="2285640"/>
          </a:xfrm>
          <a:prstGeom prst="roundRect">
            <a:avLst>
              <a:gd name="adj" fmla="val 2800"/>
            </a:avLst>
          </a:prstGeom>
          <a:solidFill>
            <a:srgbClr val="161033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3"/>
          <p:cNvSpPr/>
          <p:nvPr/>
        </p:nvSpPr>
        <p:spPr>
          <a:xfrm>
            <a:off x="777240" y="1783080"/>
            <a:ext cx="118440" cy="118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4"/>
          <p:cNvSpPr/>
          <p:nvPr/>
        </p:nvSpPr>
        <p:spPr>
          <a:xfrm>
            <a:off x="1005840" y="1783080"/>
            <a:ext cx="118440" cy="118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5"/>
          <p:cNvSpPr/>
          <p:nvPr/>
        </p:nvSpPr>
        <p:spPr>
          <a:xfrm>
            <a:off x="1234440" y="1783080"/>
            <a:ext cx="118440" cy="118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6"/>
          <p:cNvSpPr/>
          <p:nvPr/>
        </p:nvSpPr>
        <p:spPr>
          <a:xfrm>
            <a:off x="822960" y="2057400"/>
            <a:ext cx="54860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# 1. Crear el proyecto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mkdir gestor-tareas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cd gestor-tareas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code .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# 2. Crear app.js y escribir: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7"/>
          <p:cNvSpPr/>
          <p:nvPr/>
        </p:nvSpPr>
        <p:spPr>
          <a:xfrm>
            <a:off x="548640" y="4023360"/>
            <a:ext cx="6034680" cy="2239920"/>
          </a:xfrm>
          <a:prstGeom prst="roundRect">
            <a:avLst>
              <a:gd name="adj" fmla="val 2857"/>
            </a:avLst>
          </a:prstGeom>
          <a:solidFill>
            <a:srgbClr val="161033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8"/>
          <p:cNvSpPr/>
          <p:nvPr/>
        </p:nvSpPr>
        <p:spPr>
          <a:xfrm>
            <a:off x="777240" y="4206240"/>
            <a:ext cx="118440" cy="118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9"/>
          <p:cNvSpPr/>
          <p:nvPr/>
        </p:nvSpPr>
        <p:spPr>
          <a:xfrm>
            <a:off x="1005840" y="4206240"/>
            <a:ext cx="118440" cy="118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10"/>
          <p:cNvSpPr/>
          <p:nvPr/>
        </p:nvSpPr>
        <p:spPr>
          <a:xfrm>
            <a:off x="1234440" y="4206240"/>
            <a:ext cx="118440" cy="118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1"/>
          <p:cNvSpPr/>
          <p:nvPr/>
        </p:nvSpPr>
        <p:spPr>
          <a:xfrm>
            <a:off x="822960" y="4480560"/>
            <a:ext cx="54860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8e3ff"/>
                </a:solidFill>
                <a:effectLst/>
                <a:uFillTx/>
                <a:latin typeface="Courier New"/>
                <a:ea typeface="Courier New"/>
              </a:rPr>
              <a:t>console.log(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  "¡Hola! Soy el gestor de tareas.");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8e3ff"/>
                </a:solidFill>
                <a:effectLst/>
                <a:uFillTx/>
                <a:latin typeface="Courier New"/>
                <a:ea typeface="Courier New"/>
              </a:rPr>
              <a:t>let tarea = "Aprender JavaScript";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8e3ff"/>
                </a:solidFill>
                <a:effectLst/>
                <a:uFillTx/>
                <a:latin typeface="Courier New"/>
                <a:ea typeface="Courier New"/>
              </a:rPr>
              <a:t>console.log("Tarea de hoy:", tarea);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2"/>
          <p:cNvSpPr/>
          <p:nvPr/>
        </p:nvSpPr>
        <p:spPr>
          <a:xfrm>
            <a:off x="6812280" y="1600200"/>
            <a:ext cx="4800240" cy="2285640"/>
          </a:xfrm>
          <a:prstGeom prst="roundRect">
            <a:avLst>
              <a:gd name="adj" fmla="val 4800"/>
            </a:avLst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3"/>
          <p:cNvSpPr/>
          <p:nvPr/>
        </p:nvSpPr>
        <p:spPr>
          <a:xfrm>
            <a:off x="7086600" y="1874520"/>
            <a:ext cx="731160" cy="73116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7" name="Image 0" descr="icons/terminal_white.png"/>
          <p:cNvPicPr/>
          <p:nvPr/>
        </p:nvPicPr>
        <p:blipFill>
          <a:blip r:embed="rId2"/>
          <a:stretch/>
        </p:blipFill>
        <p:spPr>
          <a:xfrm>
            <a:off x="7276680" y="2064600"/>
            <a:ext cx="35064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8" name="Text 14"/>
          <p:cNvSpPr/>
          <p:nvPr/>
        </p:nvSpPr>
        <p:spPr>
          <a:xfrm>
            <a:off x="7955280" y="192024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Forma A — la terminal</a:t>
            </a:r>
            <a:endParaRPr lang="es-CO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5"/>
          <p:cNvSpPr/>
          <p:nvPr/>
        </p:nvSpPr>
        <p:spPr>
          <a:xfrm>
            <a:off x="7086600" y="269748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node app.js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6"/>
          <p:cNvSpPr/>
          <p:nvPr/>
        </p:nvSpPr>
        <p:spPr>
          <a:xfrm>
            <a:off x="7086600" y="3154680"/>
            <a:ext cx="4297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"Node, agarra app.js y ejecútalo." La que de verdad importa.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7"/>
          <p:cNvSpPr/>
          <p:nvPr/>
        </p:nvSpPr>
        <p:spPr>
          <a:xfrm>
            <a:off x="6812280" y="4023360"/>
            <a:ext cx="4800240" cy="223992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8"/>
          <p:cNvSpPr/>
          <p:nvPr/>
        </p:nvSpPr>
        <p:spPr>
          <a:xfrm>
            <a:off x="7086600" y="4297680"/>
            <a:ext cx="731160" cy="731160"/>
          </a:xfrm>
          <a:prstGeom prst="ellipse">
            <a:avLst/>
          </a:prstGeom>
          <a:solidFill>
            <a:srgbClr val="5b2bd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3" name="Image 1" descr="icons/play_white.png"/>
          <p:cNvPicPr/>
          <p:nvPr/>
        </p:nvPicPr>
        <p:blipFill>
          <a:blip r:embed="rId3"/>
          <a:stretch/>
        </p:blipFill>
        <p:spPr>
          <a:xfrm>
            <a:off x="7276680" y="4487760"/>
            <a:ext cx="35064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Text 19"/>
          <p:cNvSpPr/>
          <p:nvPr/>
        </p:nvSpPr>
        <p:spPr>
          <a:xfrm>
            <a:off x="7955280" y="434340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Forma B — el botón ▶</a:t>
            </a:r>
            <a:endParaRPr lang="es-CO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20"/>
          <p:cNvSpPr/>
          <p:nvPr/>
        </p:nvSpPr>
        <p:spPr>
          <a:xfrm>
            <a:off x="7086600" y="5074920"/>
            <a:ext cx="4343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Hace exactamente lo mismo por debajo: node app.js. El botón es un atajo. Si entiendes la terminal, entiendes el botón. Al revés no.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21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2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LIVE CODING · EL DETALLE CLAVE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La coma vs el +  (¿510 o 15?)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2"/>
          <p:cNvSpPr/>
          <p:nvPr/>
        </p:nvSpPr>
        <p:spPr>
          <a:xfrm>
            <a:off x="548640" y="1645920"/>
            <a:ext cx="11063880" cy="1965600"/>
          </a:xfrm>
          <a:prstGeom prst="roundRect">
            <a:avLst>
              <a:gd name="adj" fmla="val 3256"/>
            </a:avLst>
          </a:prstGeom>
          <a:solidFill>
            <a:srgbClr val="161033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3"/>
          <p:cNvSpPr/>
          <p:nvPr/>
        </p:nvSpPr>
        <p:spPr>
          <a:xfrm>
            <a:off x="777240" y="1828800"/>
            <a:ext cx="118440" cy="118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4"/>
          <p:cNvSpPr/>
          <p:nvPr/>
        </p:nvSpPr>
        <p:spPr>
          <a:xfrm>
            <a:off x="1005840" y="1828800"/>
            <a:ext cx="118440" cy="118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5"/>
          <p:cNvSpPr/>
          <p:nvPr/>
        </p:nvSpPr>
        <p:spPr>
          <a:xfrm>
            <a:off x="1234440" y="1828800"/>
            <a:ext cx="118440" cy="118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6"/>
          <p:cNvSpPr/>
          <p:nvPr/>
        </p:nvSpPr>
        <p:spPr>
          <a:xfrm>
            <a:off x="822960" y="2103120"/>
            <a:ext cx="105152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8e3ff"/>
                </a:solidFill>
                <a:effectLst/>
                <a:uFillTx/>
                <a:latin typeface="Courier New"/>
                <a:ea typeface="Courier New"/>
              </a:rPr>
              <a:t>console.log("Total: " + 5 + 10);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9f9f"/>
                </a:solidFill>
                <a:effectLst/>
                <a:uFillTx/>
                <a:latin typeface="Courier New"/>
                <a:ea typeface="Courier New"/>
              </a:rPr>
              <a:t>   // "Total: 510"   😱  pegó en vez de sumar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8e3ff"/>
                </a:solidFill>
                <a:effectLst/>
                <a:uFillTx/>
                <a:latin typeface="Courier New"/>
                <a:ea typeface="Courier New"/>
              </a:rPr>
              <a:t>console.log("Total:", 5 + 10);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   // "Total: 15"    ✅  la coma los mantiene separados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7"/>
          <p:cNvSpPr/>
          <p:nvPr/>
        </p:nvSpPr>
        <p:spPr>
          <a:xfrm>
            <a:off x="548640" y="3794760"/>
            <a:ext cx="11063880" cy="914040"/>
          </a:xfrm>
          <a:prstGeom prst="roundRect">
            <a:avLst>
              <a:gd name="adj" fmla="val 9000"/>
            </a:avLst>
          </a:prstGeom>
          <a:solidFill>
            <a:srgbClr val="2d1b69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6" name="Image 0" descr="icons/question_lilac.png"/>
          <p:cNvPicPr/>
          <p:nvPr/>
        </p:nvPicPr>
        <p:blipFill>
          <a:blip r:embed="rId2"/>
          <a:stretch/>
        </p:blipFill>
        <p:spPr>
          <a:xfrm>
            <a:off x="749880" y="39960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7" name="Text 8"/>
          <p:cNvSpPr/>
          <p:nvPr/>
        </p:nvSpPr>
        <p:spPr>
          <a:xfrm>
            <a:off x="1417320" y="3904560"/>
            <a:ext cx="10012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¿Por qué  + 5 + 10  dio 510 y no 15?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9"/>
          <p:cNvSpPr/>
          <p:nvPr/>
        </p:nvSpPr>
        <p:spPr>
          <a:xfrm>
            <a:off x="548640" y="4818960"/>
            <a:ext cx="11063880" cy="1206720"/>
          </a:xfrm>
          <a:prstGeom prst="roundRect">
            <a:avLst>
              <a:gd name="adj" fmla="val 6818"/>
            </a:avLst>
          </a:prstGeom>
          <a:solidFill>
            <a:srgbClr val="e4f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9" name="Image 1" descr="icons/check_purple.png"/>
          <p:cNvPicPr/>
          <p:nvPr/>
        </p:nvPicPr>
        <p:blipFill>
          <a:blip r:embed="rId3"/>
          <a:stretch/>
        </p:blipFill>
        <p:spPr>
          <a:xfrm>
            <a:off x="749880" y="50018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0" name="Text 10"/>
          <p:cNvSpPr/>
          <p:nvPr/>
        </p:nvSpPr>
        <p:spPr>
          <a:xfrm>
            <a:off x="1325880" y="4956120"/>
            <a:ext cx="10149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99" strike="noStrike">
                <a:solidFill>
                  <a:srgbClr val="3fd18b"/>
                </a:solidFill>
                <a:effectLst/>
                <a:uFillTx/>
                <a:latin typeface="Calibri"/>
                <a:ea typeface="Calibri"/>
              </a:rPr>
              <a:t>RESPUESTA ESPERADA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1"/>
          <p:cNvSpPr/>
          <p:nvPr/>
        </p:nvSpPr>
        <p:spPr>
          <a:xfrm>
            <a:off x="1325880" y="5221080"/>
            <a:ext cx="10058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Cuando JS ve "texto" + número, asume que quieres PEGAR texto y convierte el número en texto: "Total: "+5 → "Total: 5", luego +10 → "Total: 510". El mismo + suma números pero pega textos. Ese es justo el error silencioso que TypeScript atrapa.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2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3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LIVE CODING · ROMPAMOS ALGO A PROPÓSITO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El error es información, no fracaso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2"/>
          <p:cNvSpPr/>
          <p:nvPr/>
        </p:nvSpPr>
        <p:spPr>
          <a:xfrm>
            <a:off x="548640" y="1645920"/>
            <a:ext cx="5760360" cy="1782720"/>
          </a:xfrm>
          <a:prstGeom prst="roundRect">
            <a:avLst>
              <a:gd name="adj" fmla="val 3590"/>
            </a:avLst>
          </a:prstGeom>
          <a:solidFill>
            <a:srgbClr val="161033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3"/>
          <p:cNvSpPr/>
          <p:nvPr/>
        </p:nvSpPr>
        <p:spPr>
          <a:xfrm>
            <a:off x="777240" y="1828800"/>
            <a:ext cx="118440" cy="118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4"/>
          <p:cNvSpPr/>
          <p:nvPr/>
        </p:nvSpPr>
        <p:spPr>
          <a:xfrm>
            <a:off x="1005840" y="1828800"/>
            <a:ext cx="118440" cy="118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5"/>
          <p:cNvSpPr/>
          <p:nvPr/>
        </p:nvSpPr>
        <p:spPr>
          <a:xfrm>
            <a:off x="1234440" y="1828800"/>
            <a:ext cx="118440" cy="118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6"/>
          <p:cNvSpPr/>
          <p:nvPr/>
        </p:nvSpPr>
        <p:spPr>
          <a:xfrm>
            <a:off x="822960" y="2103120"/>
            <a:ext cx="52117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8e3ff"/>
                </a:solidFill>
                <a:effectLst/>
                <a:uFillTx/>
                <a:latin typeface="Courier New"/>
                <a:ea typeface="Courier New"/>
              </a:rPr>
              <a:t>console.log("Tarea:", Tarea);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d27d"/>
                </a:solidFill>
                <a:effectLst/>
                <a:uFillTx/>
                <a:latin typeface="Courier New"/>
                <a:ea typeface="Courier New"/>
              </a:rPr>
              <a:t>   // ⚠️ con T mayúscula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9f9f"/>
                </a:solidFill>
                <a:effectLst/>
                <a:uFillTx/>
                <a:latin typeface="Courier New"/>
                <a:ea typeface="Courier New"/>
              </a:rPr>
              <a:t>ReferenceError: Tarea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9f9f"/>
                </a:solidFill>
                <a:effectLst/>
                <a:uFillTx/>
                <a:latin typeface="Courier New"/>
                <a:ea typeface="Courier New"/>
              </a:rPr>
              <a:t>  is not defined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7"/>
          <p:cNvSpPr/>
          <p:nvPr/>
        </p:nvSpPr>
        <p:spPr>
          <a:xfrm>
            <a:off x="6035040" y="1645920"/>
            <a:ext cx="5577480" cy="1782720"/>
          </a:xfrm>
          <a:prstGeom prst="roundRect">
            <a:avLst>
              <a:gd name="adj" fmla="val 5128"/>
            </a:avLst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8"/>
          <p:cNvSpPr/>
          <p:nvPr/>
        </p:nvSpPr>
        <p:spPr>
          <a:xfrm>
            <a:off x="6309360" y="182880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Léelo de izquierda a derecha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9"/>
          <p:cNvSpPr/>
          <p:nvPr/>
        </p:nvSpPr>
        <p:spPr>
          <a:xfrm>
            <a:off x="6309360" y="2240280"/>
            <a:ext cx="5028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lang="en-US" sz="1300" b="1" u="none" strike="noStrike">
                <a:solidFill>
                  <a:srgbClr val="ffc24b"/>
                </a:solidFill>
                <a:effectLst/>
                <a:uFillTx/>
                <a:latin typeface="Calibri"/>
              </a:rPr>
              <a:t>ReferenceError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→ qué tipo de error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>
                <a:solidFill>
                  <a:srgbClr val="ffc24b"/>
                </a:solidFill>
                <a:effectLst/>
                <a:uFillTx/>
                <a:latin typeface="Calibri"/>
              </a:rPr>
              <a:t>Tarea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→ dónde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c24b"/>
                </a:solidFill>
                <a:effectLst/>
                <a:uFillTx/>
                <a:latin typeface="Calibri"/>
              </a:rPr>
              <a:t>is not defined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→ qué pasa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10"/>
          <p:cNvSpPr/>
          <p:nvPr/>
        </p:nvSpPr>
        <p:spPr>
          <a:xfrm>
            <a:off x="548640" y="3611880"/>
            <a:ext cx="11063880" cy="914040"/>
          </a:xfrm>
          <a:prstGeom prst="roundRect">
            <a:avLst>
              <a:gd name="adj" fmla="val 9000"/>
            </a:avLst>
          </a:prstGeom>
          <a:solidFill>
            <a:srgbClr val="2d1b69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5" name="Image 0" descr="icons/question_lilac.png"/>
          <p:cNvPicPr/>
          <p:nvPr/>
        </p:nvPicPr>
        <p:blipFill>
          <a:blip r:embed="rId2"/>
          <a:stretch/>
        </p:blipFill>
        <p:spPr>
          <a:xfrm>
            <a:off x="749880" y="381312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Text 11"/>
          <p:cNvSpPr/>
          <p:nvPr/>
        </p:nvSpPr>
        <p:spPr>
          <a:xfrm>
            <a:off x="1417320" y="3721680"/>
            <a:ext cx="10012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¿Por qué falló, si la palabra se parece muchísimo?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2"/>
          <p:cNvSpPr/>
          <p:nvPr/>
        </p:nvSpPr>
        <p:spPr>
          <a:xfrm>
            <a:off x="548640" y="4636080"/>
            <a:ext cx="11063880" cy="1206720"/>
          </a:xfrm>
          <a:prstGeom prst="roundRect">
            <a:avLst>
              <a:gd name="adj" fmla="val 6818"/>
            </a:avLst>
          </a:prstGeom>
          <a:solidFill>
            <a:srgbClr val="e4f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8" name="Image 1" descr="icons/check_purple.png"/>
          <p:cNvPicPr/>
          <p:nvPr/>
        </p:nvPicPr>
        <p:blipFill>
          <a:blip r:embed="rId3"/>
          <a:stretch/>
        </p:blipFill>
        <p:spPr>
          <a:xfrm>
            <a:off x="749880" y="48189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Text 13"/>
          <p:cNvSpPr/>
          <p:nvPr/>
        </p:nvSpPr>
        <p:spPr>
          <a:xfrm>
            <a:off x="1325880" y="4773240"/>
            <a:ext cx="10149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99" strike="noStrike">
                <a:solidFill>
                  <a:srgbClr val="3fd18b"/>
                </a:solidFill>
                <a:effectLst/>
                <a:uFillTx/>
                <a:latin typeface="Calibri"/>
                <a:ea typeface="Calibri"/>
              </a:rPr>
              <a:t>RESPUESTA ESPERADA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4"/>
          <p:cNvSpPr/>
          <p:nvPr/>
        </p:nvSpPr>
        <p:spPr>
          <a:xfrm>
            <a:off x="1325880" y="5038200"/>
            <a:ext cx="10058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JavaScript distingue mayúsculas de minúsculas: tarea ≠ Tarea, son dos cosas distintas. La máquina hace lo que escribimos, no lo que pensamos. Leer errores es el 50% de programar: rompe, lee, corrige.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5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6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BLOQUE 6 · TYPESCRIPT EN ACCIÓN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Dos archivos, dos mundos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2"/>
          <p:cNvSpPr/>
          <p:nvPr/>
        </p:nvSpPr>
        <p:spPr>
          <a:xfrm>
            <a:off x="548640" y="1600200"/>
            <a:ext cx="5486040" cy="2102760"/>
          </a:xfrm>
          <a:prstGeom prst="roundRect">
            <a:avLst>
              <a:gd name="adj" fmla="val 3043"/>
            </a:avLst>
          </a:prstGeom>
          <a:solidFill>
            <a:srgbClr val="161033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3"/>
          <p:cNvSpPr/>
          <p:nvPr/>
        </p:nvSpPr>
        <p:spPr>
          <a:xfrm>
            <a:off x="777240" y="1783080"/>
            <a:ext cx="118440" cy="118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4"/>
          <p:cNvSpPr/>
          <p:nvPr/>
        </p:nvSpPr>
        <p:spPr>
          <a:xfrm>
            <a:off x="1005840" y="1783080"/>
            <a:ext cx="118440" cy="118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5"/>
          <p:cNvSpPr/>
          <p:nvPr/>
        </p:nvSpPr>
        <p:spPr>
          <a:xfrm>
            <a:off x="1234440" y="1783080"/>
            <a:ext cx="118440" cy="118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6"/>
          <p:cNvSpPr/>
          <p:nvPr/>
        </p:nvSpPr>
        <p:spPr>
          <a:xfrm>
            <a:off x="822960" y="2057400"/>
            <a:ext cx="4937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// demo.js — sin protección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8e3ff"/>
                </a:solidFill>
                <a:effectLst/>
                <a:uFillTx/>
                <a:latin typeface="Courier New"/>
                <a:ea typeface="Courier New"/>
              </a:rPr>
              <a:t>function sumar(a, b) {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8e3ff"/>
                </a:solidFill>
                <a:effectLst/>
                <a:uFillTx/>
                <a:latin typeface="Courier New"/>
                <a:ea typeface="Courier New"/>
              </a:rPr>
              <a:t>  return a + b;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8e3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9f9f"/>
                </a:solidFill>
                <a:effectLst/>
                <a:uFillTx/>
                <a:latin typeface="Courier New"/>
                <a:ea typeface="Courier New"/>
              </a:rPr>
              <a:t>sumar(5, "10");  // "510" 😱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9f9f"/>
                </a:solidFill>
                <a:effectLst/>
                <a:uFillTx/>
                <a:latin typeface="Courier New"/>
                <a:ea typeface="Courier New"/>
              </a:rPr>
              <a:t>// silencio total: nadie avisó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7"/>
          <p:cNvSpPr/>
          <p:nvPr/>
        </p:nvSpPr>
        <p:spPr>
          <a:xfrm>
            <a:off x="6263640" y="1600200"/>
            <a:ext cx="5348880" cy="2102760"/>
          </a:xfrm>
          <a:prstGeom prst="roundRect">
            <a:avLst>
              <a:gd name="adj" fmla="val 3043"/>
            </a:avLst>
          </a:prstGeom>
          <a:solidFill>
            <a:srgbClr val="161033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8"/>
          <p:cNvSpPr/>
          <p:nvPr/>
        </p:nvSpPr>
        <p:spPr>
          <a:xfrm>
            <a:off x="6492240" y="1783080"/>
            <a:ext cx="118440" cy="118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9"/>
          <p:cNvSpPr/>
          <p:nvPr/>
        </p:nvSpPr>
        <p:spPr>
          <a:xfrm>
            <a:off x="6720840" y="1783080"/>
            <a:ext cx="118440" cy="118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10"/>
          <p:cNvSpPr/>
          <p:nvPr/>
        </p:nvSpPr>
        <p:spPr>
          <a:xfrm>
            <a:off x="6949440" y="1783080"/>
            <a:ext cx="118440" cy="118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1"/>
          <p:cNvSpPr/>
          <p:nvPr/>
        </p:nvSpPr>
        <p:spPr>
          <a:xfrm>
            <a:off x="6537960" y="2057400"/>
            <a:ext cx="4800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// demo.ts — con cinturón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8e3ff"/>
                </a:solidFill>
                <a:effectLst/>
                <a:uFillTx/>
                <a:latin typeface="Courier New"/>
                <a:ea typeface="Courier New"/>
              </a:rPr>
              <a:t>function sumar(a: number,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8e3ff"/>
                </a:solidFill>
                <a:effectLst/>
                <a:uFillTx/>
                <a:latin typeface="Courier New"/>
                <a:ea typeface="Courier New"/>
              </a:rPr>
              <a:t>  b: number): number {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8e3ff"/>
                </a:solidFill>
                <a:effectLst/>
                <a:uFillTx/>
                <a:latin typeface="Courier New"/>
                <a:ea typeface="Courier New"/>
              </a:rPr>
              <a:t>  return a + b; }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8e3ff"/>
                </a:solidFill>
                <a:effectLst/>
                <a:uFillTx/>
                <a:latin typeface="Courier New"/>
                <a:ea typeface="Courier New"/>
              </a:rPr>
              <a:t>sumar(5, "10");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// 🔴 rojo ANTES de ejecutar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12"/>
          <p:cNvSpPr/>
          <p:nvPr/>
        </p:nvSpPr>
        <p:spPr>
          <a:xfrm>
            <a:off x="548640" y="3931920"/>
            <a:ext cx="11063880" cy="914040"/>
          </a:xfrm>
          <a:prstGeom prst="roundRect">
            <a:avLst>
              <a:gd name="adj" fmla="val 9000"/>
            </a:avLst>
          </a:prstGeom>
          <a:solidFill>
            <a:srgbClr val="2d1b69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6" name="Image 0" descr="icons/question_lilac.png"/>
          <p:cNvPicPr/>
          <p:nvPr/>
        </p:nvPicPr>
        <p:blipFill>
          <a:blip r:embed="rId2"/>
          <a:stretch/>
        </p:blipFill>
        <p:spPr>
          <a:xfrm>
            <a:off x="749880" y="413316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" name="Text 13"/>
          <p:cNvSpPr/>
          <p:nvPr/>
        </p:nvSpPr>
        <p:spPr>
          <a:xfrm>
            <a:off x="1417320" y="4041720"/>
            <a:ext cx="10012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 hemos ejecutado nada. ¿Quién avisa y CUÁNDO avisa?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14"/>
          <p:cNvSpPr/>
          <p:nvPr/>
        </p:nvSpPr>
        <p:spPr>
          <a:xfrm>
            <a:off x="548640" y="4956120"/>
            <a:ext cx="11063880" cy="1206720"/>
          </a:xfrm>
          <a:prstGeom prst="roundRect">
            <a:avLst>
              <a:gd name="adj" fmla="val 6818"/>
            </a:avLst>
          </a:prstGeom>
          <a:solidFill>
            <a:srgbClr val="e4f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9" name="Image 1" descr="icons/check_purple.png"/>
          <p:cNvPicPr/>
          <p:nvPr/>
        </p:nvPicPr>
        <p:blipFill>
          <a:blip r:embed="rId3"/>
          <a:stretch/>
        </p:blipFill>
        <p:spPr>
          <a:xfrm>
            <a:off x="749880" y="51390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0" name="Text 15"/>
          <p:cNvSpPr/>
          <p:nvPr/>
        </p:nvSpPr>
        <p:spPr>
          <a:xfrm>
            <a:off x="1325880" y="5093280"/>
            <a:ext cx="10149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99" strike="noStrike">
                <a:solidFill>
                  <a:srgbClr val="3fd18b"/>
                </a:solidFill>
                <a:effectLst/>
                <a:uFillTx/>
                <a:latin typeface="Calibri"/>
                <a:ea typeface="Calibri"/>
              </a:rPr>
              <a:t>RESPUESTA ESPERADA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16"/>
          <p:cNvSpPr/>
          <p:nvPr/>
        </p:nvSpPr>
        <p:spPr>
          <a:xfrm>
            <a:off x="1325880" y="5358240"/>
            <a:ext cx="10058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TypeScript avisa MIENTRAS ESCRIBES, antes de ejecutar. JS te deja cometer el error y te lo cobra en producción; TS te detiene en la puerta, cuando corregir cuesta dos segundos.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7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8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BLOQUE 6 · ¿CÓMO SE EJECUTA UN .TS?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tsc: ver a TS convertirse en JS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2"/>
          <p:cNvSpPr/>
          <p:nvPr/>
        </p:nvSpPr>
        <p:spPr>
          <a:xfrm>
            <a:off x="548640" y="1645920"/>
            <a:ext cx="3611520" cy="2331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3"/>
          <p:cNvSpPr/>
          <p:nvPr/>
        </p:nvSpPr>
        <p:spPr>
          <a:xfrm>
            <a:off x="1943280" y="1920240"/>
            <a:ext cx="822600" cy="82260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8" name="Image 0" descr="icons/code_white.png"/>
          <p:cNvPicPr/>
          <p:nvPr/>
        </p:nvPicPr>
        <p:blipFill>
          <a:blip r:embed="rId2"/>
          <a:stretch/>
        </p:blipFill>
        <p:spPr>
          <a:xfrm>
            <a:off x="2157120" y="213408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9" name="Text 4"/>
          <p:cNvSpPr/>
          <p:nvPr/>
        </p:nvSpPr>
        <p:spPr>
          <a:xfrm>
            <a:off x="731520" y="283464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1. Corregir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5"/>
          <p:cNvSpPr/>
          <p:nvPr/>
        </p:nvSpPr>
        <p:spPr>
          <a:xfrm>
            <a:off x="777240" y="3273480"/>
            <a:ext cx="3154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b2bd9"/>
                </a:solidFill>
                <a:effectLst/>
                <a:uFillTx/>
                <a:latin typeface="Courier New"/>
                <a:ea typeface="Courier New"/>
              </a:rPr>
              <a:t>Cambia "10" por 10.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b2bd9"/>
                </a:solidFill>
                <a:effectLst/>
                <a:uFillTx/>
                <a:latin typeface="Courier New"/>
                <a:ea typeface="Courier New"/>
              </a:rPr>
              <a:t>El rojo desaparece.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6"/>
          <p:cNvSpPr/>
          <p:nvPr/>
        </p:nvSpPr>
        <p:spPr>
          <a:xfrm>
            <a:off x="4123800" y="2514600"/>
            <a:ext cx="20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7"/>
          <p:cNvSpPr/>
          <p:nvPr/>
        </p:nvSpPr>
        <p:spPr>
          <a:xfrm>
            <a:off x="4279320" y="1645920"/>
            <a:ext cx="3611520" cy="2331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8"/>
          <p:cNvSpPr/>
          <p:nvPr/>
        </p:nvSpPr>
        <p:spPr>
          <a:xfrm>
            <a:off x="5673960" y="1920240"/>
            <a:ext cx="822600" cy="82260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4" name="Image 1" descr="icons/cog_white.png"/>
          <p:cNvPicPr/>
          <p:nvPr/>
        </p:nvPicPr>
        <p:blipFill>
          <a:blip r:embed="rId3"/>
          <a:stretch/>
        </p:blipFill>
        <p:spPr>
          <a:xfrm>
            <a:off x="5887800" y="213408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5" name="Text 9"/>
          <p:cNvSpPr/>
          <p:nvPr/>
        </p:nvSpPr>
        <p:spPr>
          <a:xfrm>
            <a:off x="4462200" y="283464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2. Compilar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0"/>
          <p:cNvSpPr/>
          <p:nvPr/>
        </p:nvSpPr>
        <p:spPr>
          <a:xfrm>
            <a:off x="4507920" y="3273480"/>
            <a:ext cx="3154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b2bd9"/>
                </a:solidFill>
                <a:effectLst/>
                <a:uFillTx/>
                <a:latin typeface="Courier New"/>
                <a:ea typeface="Courier New"/>
              </a:rPr>
              <a:t>tsc demo.ts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b2bd9"/>
                </a:solidFill>
                <a:effectLst/>
                <a:uFillTx/>
                <a:latin typeface="Courier New"/>
                <a:ea typeface="Courier New"/>
              </a:rPr>
              <a:t>→ ¡aparece demo.js!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11"/>
          <p:cNvSpPr/>
          <p:nvPr/>
        </p:nvSpPr>
        <p:spPr>
          <a:xfrm>
            <a:off x="7854840" y="2514600"/>
            <a:ext cx="20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2"/>
          <p:cNvSpPr/>
          <p:nvPr/>
        </p:nvSpPr>
        <p:spPr>
          <a:xfrm>
            <a:off x="8010000" y="1645920"/>
            <a:ext cx="3611520" cy="2331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13"/>
          <p:cNvSpPr/>
          <p:nvPr/>
        </p:nvSpPr>
        <p:spPr>
          <a:xfrm>
            <a:off x="9404640" y="1920240"/>
            <a:ext cx="822600" cy="82260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0" name="Image 2" descr="icons/play_white.png"/>
          <p:cNvPicPr/>
          <p:nvPr/>
        </p:nvPicPr>
        <p:blipFill>
          <a:blip r:embed="rId4"/>
          <a:stretch/>
        </p:blipFill>
        <p:spPr>
          <a:xfrm>
            <a:off x="9618480" y="213408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1" name="Text 14"/>
          <p:cNvSpPr/>
          <p:nvPr/>
        </p:nvSpPr>
        <p:spPr>
          <a:xfrm>
            <a:off x="8192880" y="283464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3. Ejecutar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5"/>
          <p:cNvSpPr/>
          <p:nvPr/>
        </p:nvSpPr>
        <p:spPr>
          <a:xfrm>
            <a:off x="8238600" y="3273480"/>
            <a:ext cx="3154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b2bd9"/>
                </a:solidFill>
                <a:effectLst/>
                <a:uFillTx/>
                <a:latin typeface="Courier New"/>
                <a:ea typeface="Courier New"/>
              </a:rPr>
              <a:t>node demo.js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b2bd9"/>
                </a:solidFill>
                <a:effectLst/>
                <a:uFillTx/>
                <a:latin typeface="Courier New"/>
                <a:ea typeface="Courier New"/>
              </a:rPr>
              <a:t>→ Suma: 15 ✅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16"/>
          <p:cNvSpPr/>
          <p:nvPr/>
        </p:nvSpPr>
        <p:spPr>
          <a:xfrm>
            <a:off x="548640" y="4206240"/>
            <a:ext cx="11063880" cy="914040"/>
          </a:xfrm>
          <a:prstGeom prst="roundRect">
            <a:avLst>
              <a:gd name="adj" fmla="val 9000"/>
            </a:avLst>
          </a:prstGeom>
          <a:solidFill>
            <a:srgbClr val="2d1b69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4" name="Image 3" descr="icons/question_lilac.png"/>
          <p:cNvPicPr/>
          <p:nvPr/>
        </p:nvPicPr>
        <p:blipFill>
          <a:blip r:embed="rId5"/>
          <a:stretch/>
        </p:blipFill>
        <p:spPr>
          <a:xfrm>
            <a:off x="749880" y="440748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Text 17"/>
          <p:cNvSpPr/>
          <p:nvPr/>
        </p:nvSpPr>
        <p:spPr>
          <a:xfrm>
            <a:off x="1417320" y="4316040"/>
            <a:ext cx="10012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tsc no mostró mensaje… pero ¿qué archivo NUEVO apareció en la carpeta?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18"/>
          <p:cNvSpPr/>
          <p:nvPr/>
        </p:nvSpPr>
        <p:spPr>
          <a:xfrm>
            <a:off x="548640" y="5230440"/>
            <a:ext cx="11063880" cy="1206720"/>
          </a:xfrm>
          <a:prstGeom prst="roundRect">
            <a:avLst>
              <a:gd name="adj" fmla="val 6818"/>
            </a:avLst>
          </a:prstGeom>
          <a:solidFill>
            <a:srgbClr val="e4f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7" name="Image 4" descr="icons/check_purple.png"/>
          <p:cNvPicPr/>
          <p:nvPr/>
        </p:nvPicPr>
        <p:blipFill>
          <a:blip r:embed="rId6"/>
          <a:stretch/>
        </p:blipFill>
        <p:spPr>
          <a:xfrm>
            <a:off x="749880" y="54133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8" name="Text 19"/>
          <p:cNvSpPr/>
          <p:nvPr/>
        </p:nvSpPr>
        <p:spPr>
          <a:xfrm>
            <a:off x="1325880" y="5367600"/>
            <a:ext cx="10149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99" strike="noStrike">
                <a:solidFill>
                  <a:srgbClr val="3fd18b"/>
                </a:solidFill>
                <a:effectLst/>
                <a:uFillTx/>
                <a:latin typeface="Calibri"/>
                <a:ea typeface="Calibri"/>
              </a:rPr>
              <a:t>RESPUESTA ESPERADA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20"/>
          <p:cNvSpPr/>
          <p:nvPr/>
        </p:nvSpPr>
        <p:spPr>
          <a:xfrm>
            <a:off x="1325880" y="5632560"/>
            <a:ext cx="10058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¡demo.js! tsc generó JavaScript puro a partir del .ts (ábranlo: ya no tiene los :number). Esta es LA prueba física: TS no reemplaza a JS — TS se CONVIERTE en JS para poder correr.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21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22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BLOQUE 6 · ESTRENAMOS EL COPILOTO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Cursor: la IA con criterio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2"/>
          <p:cNvSpPr/>
          <p:nvPr/>
        </p:nvSpPr>
        <p:spPr>
          <a:xfrm>
            <a:off x="548640" y="1600200"/>
            <a:ext cx="5486040" cy="3017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3"/>
          <p:cNvSpPr/>
          <p:nvPr/>
        </p:nvSpPr>
        <p:spPr>
          <a:xfrm>
            <a:off x="822960" y="182880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El experimento</a:t>
            </a:r>
            <a:endParaRPr lang="es-CO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4"/>
          <p:cNvSpPr/>
          <p:nvPr/>
        </p:nvSpPr>
        <p:spPr>
          <a:xfrm>
            <a:off x="914400" y="2286000"/>
            <a:ext cx="49374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a1033"/>
              </a:buClr>
              <a:buFont typeface="Calibri Light"/>
              <a:buAutoNum type="arabicPeriod"/>
            </a:pPr>
            <a:r>
              <a:rPr lang="en-US" sz="135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Abrir gestor-tareas en Cursor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a1033"/>
              </a:buClr>
              <a:buFont typeface="Calibri Light"/>
              <a:buAutoNum type="arabicPeriod"/>
            </a:pPr>
            <a:r>
              <a:rPr lang="en-US" sz="135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Seleccionar el código de app.js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a1033"/>
              </a:buClr>
              <a:buFont typeface="Calibri Light"/>
              <a:buAutoNum type="arabicPeriod"/>
            </a:pPr>
            <a:r>
              <a:rPr lang="en-US" sz="135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Ctrl + L  →  abrir el chat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a1033"/>
              </a:buClr>
              <a:buFont typeface="Calibri Light"/>
              <a:buAutoNum type="arabicPeriod"/>
            </a:pPr>
            <a:r>
              <a:rPr lang="en-US" sz="135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"Explícame este código línea por línea"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a1033"/>
              </a:buClr>
              <a:buFont typeface="Calibri Light"/>
              <a:buAutoNum type="arabicPeriod"/>
            </a:pPr>
            <a:r>
              <a:rPr lang="en-US" sz="135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Leer comparando con lo que YA saben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5"/>
          <p:cNvSpPr/>
          <p:nvPr/>
        </p:nvSpPr>
        <p:spPr>
          <a:xfrm>
            <a:off x="6263640" y="1600200"/>
            <a:ext cx="5348880" cy="914040"/>
          </a:xfrm>
          <a:prstGeom prst="roundRect">
            <a:avLst>
              <a:gd name="adj" fmla="val 9000"/>
            </a:avLst>
          </a:prstGeom>
          <a:solidFill>
            <a:srgbClr val="2d1b69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8" name="Image 0" descr="icons/question_lilac.png"/>
          <p:cNvPicPr/>
          <p:nvPr/>
        </p:nvPicPr>
        <p:blipFill>
          <a:blip r:embed="rId2"/>
          <a:stretch/>
        </p:blipFill>
        <p:spPr>
          <a:xfrm>
            <a:off x="6464880" y="18014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9" name="Text 6"/>
          <p:cNvSpPr/>
          <p:nvPr/>
        </p:nvSpPr>
        <p:spPr>
          <a:xfrm>
            <a:off x="7132320" y="1710000"/>
            <a:ext cx="4297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¿La explicación de la IA coincide con lo que ya entendimos?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7"/>
          <p:cNvSpPr/>
          <p:nvPr/>
        </p:nvSpPr>
        <p:spPr>
          <a:xfrm>
            <a:off x="6263640" y="2624400"/>
            <a:ext cx="5348880" cy="1206720"/>
          </a:xfrm>
          <a:prstGeom prst="roundRect">
            <a:avLst>
              <a:gd name="adj" fmla="val 6818"/>
            </a:avLst>
          </a:prstGeom>
          <a:solidFill>
            <a:srgbClr val="e4f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1" name="Image 1" descr="icons/check_purple.png"/>
          <p:cNvPicPr/>
          <p:nvPr/>
        </p:nvPicPr>
        <p:blipFill>
          <a:blip r:embed="rId3"/>
          <a:stretch/>
        </p:blipFill>
        <p:spPr>
          <a:xfrm>
            <a:off x="6464880" y="28072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2" name="Text 8"/>
          <p:cNvSpPr/>
          <p:nvPr/>
        </p:nvSpPr>
        <p:spPr>
          <a:xfrm>
            <a:off x="7040880" y="2761560"/>
            <a:ext cx="443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99" strike="noStrike">
                <a:solidFill>
                  <a:srgbClr val="3fd18b"/>
                </a:solidFill>
                <a:effectLst/>
                <a:uFillTx/>
                <a:latin typeface="Calibri"/>
                <a:ea typeface="Calibri"/>
              </a:rPr>
              <a:t>RESPUESTA ESPERADA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9"/>
          <p:cNvSpPr/>
          <p:nvPr/>
        </p:nvSpPr>
        <p:spPr>
          <a:xfrm>
            <a:off x="7040880" y="3026520"/>
            <a:ext cx="4343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Sí — y ese es el punto: pudieron JUZGAR a la IA porque ya entendían el código. Si dijera algo incorrecto, lo detectarían. Eso es criterio: la única forma profesional de usar IA.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10"/>
          <p:cNvSpPr/>
          <p:nvPr/>
        </p:nvSpPr>
        <p:spPr>
          <a:xfrm>
            <a:off x="548640" y="4892040"/>
            <a:ext cx="11063880" cy="914040"/>
          </a:xfrm>
          <a:prstGeom prst="roundRect">
            <a:avLst>
              <a:gd name="adj" fmla="val 10000"/>
            </a:avLst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11"/>
          <p:cNvSpPr/>
          <p:nvPr/>
        </p:nvSpPr>
        <p:spPr>
          <a:xfrm>
            <a:off x="914400" y="489204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c24b"/>
                </a:solidFill>
                <a:effectLst/>
                <a:uFillTx/>
                <a:latin typeface="Calibri"/>
              </a:rPr>
              <a:t>La IA acelera a quien YA entiende. 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Hoy entendieron primero — por eso pudieron usarla bien. Segunda opinión que evalúas, no oráculo que obedeces.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12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3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Text 0"/>
          <p:cNvSpPr/>
          <p:nvPr/>
        </p:nvSpPr>
        <p:spPr>
          <a:xfrm>
            <a:off x="731520" y="22402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300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BLOQUE 7 · EL GRAN CIERRE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1"/>
          <p:cNvSpPr/>
          <p:nvPr/>
        </p:nvSpPr>
        <p:spPr>
          <a:xfrm>
            <a:off x="731520" y="265176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Subimos TODO a GitHub</a:t>
            </a:r>
            <a:endParaRPr lang="es-CO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2"/>
          <p:cNvSpPr/>
          <p:nvPr/>
        </p:nvSpPr>
        <p:spPr>
          <a:xfrm>
            <a:off x="731520" y="3703320"/>
            <a:ext cx="8960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i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El momento en que tu primer código viaja a internet. Tu portafolio profesional empieza hoy, en esta pantalla.</a:t>
            </a:r>
            <a:endParaRPr lang="es-CO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3"/>
          <p:cNvSpPr/>
          <p:nvPr/>
        </p:nvSpPr>
        <p:spPr>
          <a:xfrm>
            <a:off x="8869680" y="1280160"/>
            <a:ext cx="310860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0" b="1" u="none" strike="noStrike">
                <a:solidFill>
                  <a:srgbClr val="7c4dff">
                    <a:alpha val="22000"/>
                  </a:srgbClr>
                </a:solidFill>
                <a:effectLst/>
                <a:uFillTx/>
                <a:latin typeface="Century Schoolbook"/>
                <a:ea typeface="Century Schoolbook"/>
              </a:rPr>
              <a:t>7</a:t>
            </a:r>
            <a:endParaRPr lang="es-CO" sz="2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SUBIR A GITHUB · LA ANALOGÍA DEL PAQUETE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Tres verbos: caja, etiqueta, mensajero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2"/>
          <p:cNvSpPr/>
          <p:nvPr/>
        </p:nvSpPr>
        <p:spPr>
          <a:xfrm>
            <a:off x="548640" y="1691640"/>
            <a:ext cx="3611520" cy="33829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3"/>
          <p:cNvSpPr/>
          <p:nvPr/>
        </p:nvSpPr>
        <p:spPr>
          <a:xfrm>
            <a:off x="1897560" y="2011680"/>
            <a:ext cx="914040" cy="91404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6" name="Image 0" descr="icons/download_white.png"/>
          <p:cNvPicPr/>
          <p:nvPr/>
        </p:nvPicPr>
        <p:blipFill>
          <a:blip r:embed="rId2"/>
          <a:stretch/>
        </p:blipFill>
        <p:spPr>
          <a:xfrm>
            <a:off x="2135160" y="224928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Shape 4"/>
          <p:cNvSpPr/>
          <p:nvPr/>
        </p:nvSpPr>
        <p:spPr>
          <a:xfrm>
            <a:off x="868680" y="3063240"/>
            <a:ext cx="2971440" cy="502560"/>
          </a:xfrm>
          <a:prstGeom prst="roundRect">
            <a:avLst>
              <a:gd name="adj" fmla="val 14545"/>
            </a:avLst>
          </a:prstGeom>
          <a:solidFill>
            <a:srgbClr val="161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5"/>
          <p:cNvSpPr/>
          <p:nvPr/>
        </p:nvSpPr>
        <p:spPr>
          <a:xfrm>
            <a:off x="868680" y="3063240"/>
            <a:ext cx="2971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git add .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6"/>
          <p:cNvSpPr/>
          <p:nvPr/>
        </p:nvSpPr>
        <p:spPr>
          <a:xfrm>
            <a:off x="731520" y="370332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Meter en la caja</a:t>
            </a:r>
            <a:endParaRPr lang="es-CO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7"/>
          <p:cNvSpPr/>
          <p:nvPr/>
        </p:nvSpPr>
        <p:spPr>
          <a:xfrm>
            <a:off x="777240" y="4114800"/>
            <a:ext cx="3154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Eliges qué archivos van a guardarse.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8"/>
          <p:cNvSpPr/>
          <p:nvPr/>
        </p:nvSpPr>
        <p:spPr>
          <a:xfrm>
            <a:off x="4114800" y="2971800"/>
            <a:ext cx="228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9"/>
          <p:cNvSpPr/>
          <p:nvPr/>
        </p:nvSpPr>
        <p:spPr>
          <a:xfrm>
            <a:off x="4279320" y="1691640"/>
            <a:ext cx="3611520" cy="33829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10"/>
          <p:cNvSpPr/>
          <p:nvPr/>
        </p:nvSpPr>
        <p:spPr>
          <a:xfrm>
            <a:off x="5628240" y="2011680"/>
            <a:ext cx="914040" cy="91404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4" name="Image 1" descr="icons/list_white.png"/>
          <p:cNvPicPr/>
          <p:nvPr/>
        </p:nvPicPr>
        <p:blipFill>
          <a:blip r:embed="rId3"/>
          <a:stretch/>
        </p:blipFill>
        <p:spPr>
          <a:xfrm>
            <a:off x="5865840" y="224928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5" name="Shape 11"/>
          <p:cNvSpPr/>
          <p:nvPr/>
        </p:nvSpPr>
        <p:spPr>
          <a:xfrm>
            <a:off x="4599360" y="3063240"/>
            <a:ext cx="2971440" cy="502560"/>
          </a:xfrm>
          <a:prstGeom prst="roundRect">
            <a:avLst>
              <a:gd name="adj" fmla="val 14545"/>
            </a:avLst>
          </a:prstGeom>
          <a:solidFill>
            <a:srgbClr val="161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12"/>
          <p:cNvSpPr/>
          <p:nvPr/>
        </p:nvSpPr>
        <p:spPr>
          <a:xfrm>
            <a:off x="4599360" y="3063240"/>
            <a:ext cx="2971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git commit -m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3"/>
          <p:cNvSpPr/>
          <p:nvPr/>
        </p:nvSpPr>
        <p:spPr>
          <a:xfrm>
            <a:off x="4462200" y="370332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Cerrar y etiquetar</a:t>
            </a:r>
            <a:endParaRPr lang="es-CO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4"/>
          <p:cNvSpPr/>
          <p:nvPr/>
        </p:nvSpPr>
        <p:spPr>
          <a:xfrm>
            <a:off x="4507920" y="4114800"/>
            <a:ext cx="3154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Una nota de qué guardaste. Carta a tu yo futuro.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5"/>
          <p:cNvSpPr/>
          <p:nvPr/>
        </p:nvSpPr>
        <p:spPr>
          <a:xfrm>
            <a:off x="7845480" y="2971800"/>
            <a:ext cx="228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16"/>
          <p:cNvSpPr/>
          <p:nvPr/>
        </p:nvSpPr>
        <p:spPr>
          <a:xfrm>
            <a:off x="8010000" y="1691640"/>
            <a:ext cx="3611520" cy="33829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17"/>
          <p:cNvSpPr/>
          <p:nvPr/>
        </p:nvSpPr>
        <p:spPr>
          <a:xfrm>
            <a:off x="9358920" y="2011680"/>
            <a:ext cx="914040" cy="914040"/>
          </a:xfrm>
          <a:prstGeom prst="ellipse">
            <a:avLst/>
          </a:prstGeom>
          <a:solidFill>
            <a:srgbClr val="7c4d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2" name="Image 2" descr="icons/github_white.png"/>
          <p:cNvPicPr/>
          <p:nvPr/>
        </p:nvPicPr>
        <p:blipFill>
          <a:blip r:embed="rId4"/>
          <a:stretch/>
        </p:blipFill>
        <p:spPr>
          <a:xfrm>
            <a:off x="9596520" y="224928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3" name="Shape 18"/>
          <p:cNvSpPr/>
          <p:nvPr/>
        </p:nvSpPr>
        <p:spPr>
          <a:xfrm>
            <a:off x="8330040" y="3063240"/>
            <a:ext cx="2971440" cy="502560"/>
          </a:xfrm>
          <a:prstGeom prst="roundRect">
            <a:avLst>
              <a:gd name="adj" fmla="val 14545"/>
            </a:avLst>
          </a:prstGeom>
          <a:solidFill>
            <a:srgbClr val="161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19"/>
          <p:cNvSpPr/>
          <p:nvPr/>
        </p:nvSpPr>
        <p:spPr>
          <a:xfrm>
            <a:off x="8330040" y="3063240"/>
            <a:ext cx="2971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git push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20"/>
          <p:cNvSpPr/>
          <p:nvPr/>
        </p:nvSpPr>
        <p:spPr>
          <a:xfrm>
            <a:off x="8192880" y="370332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Entregar al mensajero</a:t>
            </a:r>
            <a:endParaRPr lang="es-CO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21"/>
          <p:cNvSpPr/>
          <p:nvPr/>
        </p:nvSpPr>
        <p:spPr>
          <a:xfrm>
            <a:off x="8238600" y="4114800"/>
            <a:ext cx="3154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5470"/>
                </a:solidFill>
                <a:effectLst/>
                <a:uFillTx/>
                <a:latin typeface="Calibri"/>
                <a:ea typeface="Calibri"/>
              </a:rPr>
              <a:t>Tu código viaja a GitHub, a internet.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22"/>
          <p:cNvSpPr/>
          <p:nvPr/>
        </p:nvSpPr>
        <p:spPr>
          <a:xfrm>
            <a:off x="548640" y="5257800"/>
            <a:ext cx="11063880" cy="868320"/>
          </a:xfrm>
          <a:prstGeom prst="roundRect">
            <a:avLst>
              <a:gd name="adj" fmla="val 10526"/>
            </a:avLst>
          </a:prstGeom>
          <a:solidFill>
            <a:srgbClr val="fff4dc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8" name="Image 3" descr="icons/bulb_purple.png"/>
          <p:cNvPicPr/>
          <p:nvPr/>
        </p:nvPicPr>
        <p:blipFill>
          <a:blip r:embed="rId5"/>
          <a:stretch/>
        </p:blipFill>
        <p:spPr>
          <a:xfrm>
            <a:off x="868680" y="54864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9" name="Text 23"/>
          <p:cNvSpPr/>
          <p:nvPr/>
        </p:nvSpPr>
        <p:spPr>
          <a:xfrm>
            <a:off x="1463040" y="5349240"/>
            <a:ext cx="9875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b8860b"/>
                </a:solidFill>
                <a:effectLst/>
                <a:uFillTx/>
                <a:latin typeface="Calibri"/>
              </a:rPr>
              <a:t>¿Por qué commit pide siempre un mensaje?  </a:t>
            </a:r>
            <a:r>
              <a:rPr lang="en-US" sz="1300" b="0" u="none" strike="noStrike">
                <a:solidFill>
                  <a:srgbClr val="1a1033"/>
                </a:solidFill>
                <a:effectLst/>
                <a:uFillTx/>
                <a:latin typeface="Calibri"/>
              </a:rPr>
              <a:t>Porque en 6 meses, "arreglé cosas" no le dice nada a nadie. El mensaje es una carta a tu yo del futuro.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24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25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SUBIR A GITHUB · EL FLUJO COMPLETO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900" b="1" u="none" strike="noStrike">
                <a:solidFill>
                  <a:srgbClr val="1a1033"/>
                </a:solidFill>
                <a:effectLst/>
                <a:uFillTx/>
                <a:latin typeface="Century Schoolbook"/>
                <a:ea typeface="Century Schoolbook"/>
              </a:rPr>
              <a:t>De tu carpeta a internet</a:t>
            </a:r>
            <a:endParaRPr lang="es-CO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2"/>
          <p:cNvSpPr/>
          <p:nvPr/>
        </p:nvSpPr>
        <p:spPr>
          <a:xfrm>
            <a:off x="548640" y="1645920"/>
            <a:ext cx="6766200" cy="4023000"/>
          </a:xfrm>
          <a:prstGeom prst="roundRect">
            <a:avLst>
              <a:gd name="adj" fmla="val 1591"/>
            </a:avLst>
          </a:prstGeom>
          <a:solidFill>
            <a:srgbClr val="161033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3"/>
          <p:cNvSpPr/>
          <p:nvPr/>
        </p:nvSpPr>
        <p:spPr>
          <a:xfrm>
            <a:off x="777240" y="1828800"/>
            <a:ext cx="118440" cy="118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4"/>
          <p:cNvSpPr/>
          <p:nvPr/>
        </p:nvSpPr>
        <p:spPr>
          <a:xfrm>
            <a:off x="1005840" y="1828800"/>
            <a:ext cx="118440" cy="118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5"/>
          <p:cNvSpPr/>
          <p:nvPr/>
        </p:nvSpPr>
        <p:spPr>
          <a:xfrm>
            <a:off x="1234440" y="1828800"/>
            <a:ext cx="118440" cy="118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6"/>
          <p:cNvSpPr/>
          <p:nvPr/>
        </p:nvSpPr>
        <p:spPr>
          <a:xfrm>
            <a:off x="822960" y="2103120"/>
            <a:ext cx="62175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# Dentro de la carpeta gestor-tareas: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git init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   # vigila esta carpeta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git add .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   # mete todo en la caja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git commit -m "Mi primer script"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c7bc7"/>
                </a:solidFill>
                <a:effectLst/>
                <a:uFillTx/>
                <a:latin typeface="Courier New"/>
                <a:ea typeface="Courier New"/>
              </a:rPr>
              <a:t># En github.com: New repository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git remote add origin &lt;tu-url&gt;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git branch -M main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git push -u origin main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d27d"/>
                </a:solidFill>
                <a:effectLst/>
                <a:uFillTx/>
                <a:latin typeface="Courier New"/>
                <a:ea typeface="Courier New"/>
              </a:rPr>
              <a:t>   # 🚀 ¡a internet!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7"/>
          <p:cNvSpPr/>
          <p:nvPr/>
        </p:nvSpPr>
        <p:spPr>
          <a:xfrm>
            <a:off x="7543800" y="1645920"/>
            <a:ext cx="4068720" cy="914040"/>
          </a:xfrm>
          <a:prstGeom prst="roundRect">
            <a:avLst>
              <a:gd name="adj" fmla="val 9000"/>
            </a:avLst>
          </a:prstGeom>
          <a:solidFill>
            <a:srgbClr val="2d1b69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0" name="Image 0" descr="icons/question_lilac.png"/>
          <p:cNvPicPr/>
          <p:nvPr/>
        </p:nvPicPr>
        <p:blipFill>
          <a:blip r:embed="rId2"/>
          <a:stretch/>
        </p:blipFill>
        <p:spPr>
          <a:xfrm>
            <a:off x="7745040" y="184716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Text 8"/>
          <p:cNvSpPr/>
          <p:nvPr/>
        </p:nvSpPr>
        <p:spPr>
          <a:xfrm>
            <a:off x="8412480" y="1755720"/>
            <a:ext cx="30171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¿Qué hace  git remote add origin?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9"/>
          <p:cNvSpPr/>
          <p:nvPr/>
        </p:nvSpPr>
        <p:spPr>
          <a:xfrm>
            <a:off x="7543800" y="2670120"/>
            <a:ext cx="4068720" cy="1206720"/>
          </a:xfrm>
          <a:prstGeom prst="roundRect">
            <a:avLst>
              <a:gd name="adj" fmla="val 6818"/>
            </a:avLst>
          </a:prstGeom>
          <a:solidFill>
            <a:srgbClr val="e4f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3" name="Image 1" descr="icons/check_purple.png"/>
          <p:cNvPicPr/>
          <p:nvPr/>
        </p:nvPicPr>
        <p:blipFill>
          <a:blip r:embed="rId3"/>
          <a:stretch/>
        </p:blipFill>
        <p:spPr>
          <a:xfrm>
            <a:off x="7745040" y="28530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4" name="Text 10"/>
          <p:cNvSpPr/>
          <p:nvPr/>
        </p:nvSpPr>
        <p:spPr>
          <a:xfrm>
            <a:off x="8321040" y="280728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99" strike="noStrike">
                <a:solidFill>
                  <a:srgbClr val="3fd18b"/>
                </a:solidFill>
                <a:effectLst/>
                <a:uFillTx/>
                <a:latin typeface="Calibri"/>
                <a:ea typeface="Calibri"/>
              </a:rPr>
              <a:t>RESPUESTA ESPERADA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11"/>
          <p:cNvSpPr/>
          <p:nvPr/>
        </p:nvSpPr>
        <p:spPr>
          <a:xfrm>
            <a:off x="8321040" y="3072240"/>
            <a:ext cx="30628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1033"/>
                </a:solidFill>
                <a:effectLst/>
                <a:uFillTx/>
                <a:latin typeface="Calibri"/>
                <a:ea typeface="Calibri"/>
              </a:rPr>
              <a:t>Conecta tu carpeta local con tu repo en GitHub: le dice a Git a dónde enviar el código. origin es el apodo de esa dirección.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12"/>
          <p:cNvSpPr/>
          <p:nvPr/>
        </p:nvSpPr>
        <p:spPr>
          <a:xfrm>
            <a:off x="7543800" y="4297680"/>
            <a:ext cx="4068720" cy="1371240"/>
          </a:xfrm>
          <a:prstGeom prst="roundRect">
            <a:avLst>
              <a:gd name="adj" fmla="val 6667"/>
            </a:avLst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7" name="Image 2" descr="icons/github_lilac.png"/>
          <p:cNvPicPr/>
          <p:nvPr/>
        </p:nvPicPr>
        <p:blipFill>
          <a:blip r:embed="rId4"/>
          <a:stretch/>
        </p:blipFill>
        <p:spPr>
          <a:xfrm>
            <a:off x="7818120" y="457200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8" name="Text 13"/>
          <p:cNvSpPr/>
          <p:nvPr/>
        </p:nvSpPr>
        <p:spPr>
          <a:xfrm>
            <a:off x="8503920" y="4434840"/>
            <a:ext cx="2925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Al crear el repo: déjalo público y NO marques "Add README" — lo queremos vacío para recibir tu código.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14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15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Text 0"/>
          <p:cNvSpPr/>
          <p:nvPr/>
        </p:nvSpPr>
        <p:spPr>
          <a:xfrm>
            <a:off x="731520" y="118872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🎉</a:t>
            </a:r>
            <a:endParaRPr lang="es-CO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"/>
          <p:cNvSpPr/>
          <p:nvPr/>
        </p:nvSpPr>
        <p:spPr>
          <a:xfrm>
            <a:off x="731520" y="214884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Tu código ya está en internet</a:t>
            </a:r>
            <a:endParaRPr lang="es-CO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2"/>
          <p:cNvSpPr/>
          <p:nvPr/>
        </p:nvSpPr>
        <p:spPr>
          <a:xfrm>
            <a:off x="731520" y="3200400"/>
            <a:ext cx="9600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Hace dos horas no tenías nada. Ahora tienes un entorno profesional completo, escribiste tu primer programa, y ya está publicado en tu portafolio.</a:t>
            </a: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4"/>
          <p:cNvSpPr/>
          <p:nvPr/>
        </p:nvSpPr>
        <p:spPr>
          <a:xfrm>
            <a:off x="731520" y="4709160"/>
            <a:ext cx="8229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PARA LLEVAR · CHEAT SHEET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1"/>
          <p:cNvSpPr/>
          <p:nvPr/>
        </p:nvSpPr>
        <p:spPr>
          <a:xfrm>
            <a:off x="548640" y="7498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2"/>
          <p:cNvSpPr/>
          <p:nvPr/>
        </p:nvSpPr>
        <p:spPr>
          <a:xfrm>
            <a:off x="548640" y="1554480"/>
            <a:ext cx="3611520" cy="1919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3"/>
          <p:cNvSpPr/>
          <p:nvPr/>
        </p:nvSpPr>
        <p:spPr>
          <a:xfrm>
            <a:off x="777240" y="17373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Verificar entorno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4"/>
          <p:cNvSpPr/>
          <p:nvPr/>
        </p:nvSpPr>
        <p:spPr>
          <a:xfrm>
            <a:off x="777240" y="2176200"/>
            <a:ext cx="3154320" cy="1142640"/>
          </a:xfrm>
          <a:prstGeom prst="roundRect">
            <a:avLst>
              <a:gd name="adj" fmla="val 5600"/>
            </a:avLst>
          </a:prstGeom>
          <a:solidFill>
            <a:srgbClr val="161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5"/>
          <p:cNvSpPr/>
          <p:nvPr/>
        </p:nvSpPr>
        <p:spPr>
          <a:xfrm>
            <a:off x="914400" y="2267640"/>
            <a:ext cx="2925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node --version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npm / git / tsc --version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6"/>
          <p:cNvSpPr/>
          <p:nvPr/>
        </p:nvSpPr>
        <p:spPr>
          <a:xfrm>
            <a:off x="4279320" y="1554480"/>
            <a:ext cx="3611520" cy="1919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7"/>
          <p:cNvSpPr/>
          <p:nvPr/>
        </p:nvSpPr>
        <p:spPr>
          <a:xfrm>
            <a:off x="4507920" y="17373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Terminal esencial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8"/>
          <p:cNvSpPr/>
          <p:nvPr/>
        </p:nvSpPr>
        <p:spPr>
          <a:xfrm>
            <a:off x="4507920" y="2176200"/>
            <a:ext cx="3154320" cy="1142640"/>
          </a:xfrm>
          <a:prstGeom prst="roundRect">
            <a:avLst>
              <a:gd name="adj" fmla="val 5600"/>
            </a:avLst>
          </a:prstGeom>
          <a:solidFill>
            <a:srgbClr val="161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9"/>
          <p:cNvSpPr/>
          <p:nvPr/>
        </p:nvSpPr>
        <p:spPr>
          <a:xfrm>
            <a:off x="4645080" y="2267640"/>
            <a:ext cx="2925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pwd · ls · cd carpeta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cd .. · mkdir x · clear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10"/>
          <p:cNvSpPr/>
          <p:nvPr/>
        </p:nvSpPr>
        <p:spPr>
          <a:xfrm>
            <a:off x="8010000" y="1554480"/>
            <a:ext cx="3611520" cy="1919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11"/>
          <p:cNvSpPr/>
          <p:nvPr/>
        </p:nvSpPr>
        <p:spPr>
          <a:xfrm>
            <a:off x="8238600" y="17373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Git: configurar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12"/>
          <p:cNvSpPr/>
          <p:nvPr/>
        </p:nvSpPr>
        <p:spPr>
          <a:xfrm>
            <a:off x="8238600" y="2176200"/>
            <a:ext cx="3154320" cy="1142640"/>
          </a:xfrm>
          <a:prstGeom prst="roundRect">
            <a:avLst>
              <a:gd name="adj" fmla="val 5600"/>
            </a:avLst>
          </a:prstGeom>
          <a:solidFill>
            <a:srgbClr val="161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13"/>
          <p:cNvSpPr/>
          <p:nvPr/>
        </p:nvSpPr>
        <p:spPr>
          <a:xfrm>
            <a:off x="8375760" y="2267640"/>
            <a:ext cx="2925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git config --global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  user.name / user.email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14"/>
          <p:cNvSpPr/>
          <p:nvPr/>
        </p:nvSpPr>
        <p:spPr>
          <a:xfrm>
            <a:off x="548640" y="3657600"/>
            <a:ext cx="3611520" cy="1919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15"/>
          <p:cNvSpPr/>
          <p:nvPr/>
        </p:nvSpPr>
        <p:spPr>
          <a:xfrm>
            <a:off x="777240" y="38404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Subir a GitHub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16"/>
          <p:cNvSpPr/>
          <p:nvPr/>
        </p:nvSpPr>
        <p:spPr>
          <a:xfrm>
            <a:off x="777240" y="4279320"/>
            <a:ext cx="3154320" cy="1142640"/>
          </a:xfrm>
          <a:prstGeom prst="roundRect">
            <a:avLst>
              <a:gd name="adj" fmla="val 5600"/>
            </a:avLst>
          </a:prstGeom>
          <a:solidFill>
            <a:srgbClr val="161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17"/>
          <p:cNvSpPr/>
          <p:nvPr/>
        </p:nvSpPr>
        <p:spPr>
          <a:xfrm>
            <a:off x="914400" y="4370760"/>
            <a:ext cx="2925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git init → add . → commit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→ remote → push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18"/>
          <p:cNvSpPr/>
          <p:nvPr/>
        </p:nvSpPr>
        <p:spPr>
          <a:xfrm>
            <a:off x="4279320" y="3657600"/>
            <a:ext cx="3611520" cy="1919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19"/>
          <p:cNvSpPr/>
          <p:nvPr/>
        </p:nvSpPr>
        <p:spPr>
          <a:xfrm>
            <a:off x="4507920" y="38404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TypeScript: flujo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20"/>
          <p:cNvSpPr/>
          <p:nvPr/>
        </p:nvSpPr>
        <p:spPr>
          <a:xfrm>
            <a:off x="4507920" y="4279320"/>
            <a:ext cx="3154320" cy="1142640"/>
          </a:xfrm>
          <a:prstGeom prst="roundRect">
            <a:avLst>
              <a:gd name="adj" fmla="val 5600"/>
            </a:avLst>
          </a:prstGeom>
          <a:solidFill>
            <a:srgbClr val="161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21"/>
          <p:cNvSpPr/>
          <p:nvPr/>
        </p:nvSpPr>
        <p:spPr>
          <a:xfrm>
            <a:off x="4645080" y="4370760"/>
            <a:ext cx="2925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tsc archivo.ts  → genera .js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node archivo.js → ejecutar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22"/>
          <p:cNvSpPr/>
          <p:nvPr/>
        </p:nvSpPr>
        <p:spPr>
          <a:xfrm>
            <a:off x="8010000" y="3657600"/>
            <a:ext cx="3611520" cy="1919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2d1b69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23"/>
          <p:cNvSpPr/>
          <p:nvPr/>
        </p:nvSpPr>
        <p:spPr>
          <a:xfrm>
            <a:off x="8238600" y="38404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5b2bd9"/>
                </a:solidFill>
                <a:effectLst/>
                <a:uFillTx/>
                <a:latin typeface="Calibri"/>
                <a:ea typeface="Calibri"/>
              </a:rPr>
              <a:t>Cursor con criterio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24"/>
          <p:cNvSpPr/>
          <p:nvPr/>
        </p:nvSpPr>
        <p:spPr>
          <a:xfrm>
            <a:off x="8238600" y="4279320"/>
            <a:ext cx="3154320" cy="1142640"/>
          </a:xfrm>
          <a:prstGeom prst="roundRect">
            <a:avLst>
              <a:gd name="adj" fmla="val 5600"/>
            </a:avLst>
          </a:prstGeom>
          <a:solidFill>
            <a:srgbClr val="161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25"/>
          <p:cNvSpPr/>
          <p:nvPr/>
        </p:nvSpPr>
        <p:spPr>
          <a:xfrm>
            <a:off x="8375760" y="4370760"/>
            <a:ext cx="2925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Ctrl+L → "explícame esto"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La IA explica DESPUÉS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de que tú entiendes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26"/>
          <p:cNvSpPr/>
          <p:nvPr/>
        </p:nvSpPr>
        <p:spPr>
          <a:xfrm>
            <a:off x="548640" y="5486400"/>
            <a:ext cx="11063880" cy="868320"/>
          </a:xfrm>
          <a:prstGeom prst="roundRect">
            <a:avLst>
              <a:gd name="adj" fmla="val 10526"/>
            </a:avLst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27"/>
          <p:cNvSpPr/>
          <p:nvPr/>
        </p:nvSpPr>
        <p:spPr>
          <a:xfrm>
            <a:off x="914400" y="5486400"/>
            <a:ext cx="10332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c24b"/>
                </a:solidFill>
                <a:effectLst/>
                <a:uFillTx/>
                <a:latin typeface="Calibri"/>
              </a:rPr>
              <a:t>Recuerda: 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el + suma números pero pega textos  ·  Git = local, GitHub = nube  ·  TS no reemplaza a JS, se convierte en JS  ·  la máquina es literal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28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29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9d8fc9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Text 0"/>
          <p:cNvSpPr/>
          <p:nvPr/>
        </p:nvSpPr>
        <p:spPr>
          <a:xfrm>
            <a:off x="548640" y="3841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HACIA LA CLASE 2</a:t>
            </a:r>
            <a:endParaRPr lang="es-CO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6" name="Image 0" descr="icons/bridge_lilac.png"/>
          <p:cNvPicPr/>
          <p:nvPr/>
        </p:nvPicPr>
        <p:blipFill>
          <a:blip r:embed="rId2"/>
          <a:stretch/>
        </p:blipFill>
        <p:spPr>
          <a:xfrm>
            <a:off x="731520" y="1371600"/>
            <a:ext cx="73116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7" name="Text 1"/>
          <p:cNvSpPr/>
          <p:nvPr/>
        </p:nvSpPr>
        <p:spPr>
          <a:xfrm>
            <a:off x="1645920" y="137160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entury Schoolbook"/>
                <a:ea typeface="Century Schoolbook"/>
              </a:rPr>
              <a:t>La pregunta que nos llevamos</a:t>
            </a:r>
            <a:endParaRPr lang="es-CO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2"/>
          <p:cNvSpPr/>
          <p:nvPr/>
        </p:nvSpPr>
        <p:spPr>
          <a:xfrm>
            <a:off x="731520" y="2423160"/>
            <a:ext cx="10698120" cy="2285640"/>
          </a:xfrm>
          <a:prstGeom prst="roundRect">
            <a:avLst>
              <a:gd name="adj" fmla="val 4800"/>
            </a:avLst>
          </a:prstGeom>
          <a:solidFill>
            <a:srgbClr val="2d1b69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3"/>
          <p:cNvSpPr/>
          <p:nvPr/>
        </p:nvSpPr>
        <p:spPr>
          <a:xfrm>
            <a:off x="1097280" y="26974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7df9c8"/>
                </a:solidFill>
                <a:effectLst/>
                <a:uFillTx/>
                <a:latin typeface="Courier New"/>
                <a:ea typeface="Courier New"/>
              </a:rPr>
              <a:t>let tarea = "Aprender JavaScript";</a:t>
            </a: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4"/>
          <p:cNvSpPr/>
          <p:nvPr/>
        </p:nvSpPr>
        <p:spPr>
          <a:xfrm>
            <a:off x="1097280" y="3337560"/>
            <a:ext cx="101494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600" b="0" i="1" u="none" strike="noStrike">
                <a:solidFill>
                  <a:srgbClr val="b39dff"/>
                </a:solidFill>
                <a:effectLst/>
                <a:uFillTx/>
                <a:latin typeface="Calibri"/>
                <a:ea typeface="Calibri"/>
              </a:rPr>
              <a:t>Usamos let para guardar un texto. Pero… ¿y si quiero guardar un número? ¿O un verdadero/falso? ¿Por qué a veces verás const en lugar de let? Y lo más jugoso: ¿qué tiene que ver el 5 + "10" = "510" con los tipos de datos?</a:t>
            </a:r>
            <a:endParaRPr lang="es-CO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5"/>
          <p:cNvSpPr/>
          <p:nvPr/>
        </p:nvSpPr>
        <p:spPr>
          <a:xfrm>
            <a:off x="731520" y="4983480"/>
            <a:ext cx="10698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Clase 2 → Variables, tipos de datos y operadores. Ahí, por fin, TypeScript empieza a brillar.</a:t>
            </a:r>
            <a:endParaRPr lang="es-CO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6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pc="99" strike="noStrike">
                <a:solidFill>
                  <a:srgbClr val="8c7bc7"/>
                </a:solidFill>
                <a:effectLst/>
                <a:uFillTx/>
                <a:latin typeface="Calibri"/>
                <a:ea typeface="Calibri"/>
              </a:rPr>
              <a:t>DEV SENIOR CODE  ·  JavaScript AI Backend Developer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7"/>
          <p:cNvSpPr/>
          <p:nvPr/>
        </p:nvSpPr>
        <p:spPr>
          <a:xfrm>
            <a:off x="9174240" y="64738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c7bc7"/>
                </a:solidFill>
                <a:effectLst/>
                <a:uFillTx/>
                <a:latin typeface="Calibri"/>
                <a:ea typeface="Calibri"/>
              </a:rPr>
              <a:t>© 2026 Ana Alvarado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LibreOffice/25.8.6.2$Windows_X86_64 LibreOffice_project/b4b39682cd9868fa725bc664aff94278d315bd04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2026-06-12T23:29:17Z</dcterms:created>
  <dc:creator>Ana Alvarado</dc:creator>
  <dc:description/>
  <dc:language>es-CO</dc:language>
  <cp:lastModifiedBy/>
  <dcterms:modified xsi:type="dcterms:W3CDTF">2026-06-12T18:39:49Z</dcterms:modified>
  <cp:revision>2</cp:revision>
  <dc:subject>PptxGenJS Presentation</dc:subject>
  <dc:title>Clase 1 — JavaScript AI Backend Developer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34</vt:i4>
  </property>
  <property fmtid="{D5CDD505-2E9C-101B-9397-08002B2CF9AE}" pid="3" name="PresentationFormat">
    <vt:lpwstr>On-screen Show (16:9)</vt:lpwstr>
  </property>
  <property fmtid="{D5CDD505-2E9C-101B-9397-08002B2CF9AE}" pid="4" name="Slides">
    <vt:i4>34</vt:i4>
  </property>
</Properties>
</file>